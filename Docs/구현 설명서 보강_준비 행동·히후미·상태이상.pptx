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17EEC-D8C9-B941-A619-6650BC39B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F3ED96-FFC2-0ADA-D509-962C3AE8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75BFCF-A7ED-82C1-1841-5B55E19A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328052-7BB8-0A43-AE92-852A34AF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AD1A63-286D-6E51-6F4C-CA0F31D2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8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02802-8E4D-1173-1B2B-20DA4824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E316F-0AC9-6B49-2445-52D527B1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1E6A12-274A-7B42-654F-F0A53948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EF363-39A5-2662-A9ED-42D31244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D0DECB-F090-B470-6B31-AD943F26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65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379EF-1ACC-8F2F-CAB9-AD121335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6F807-9788-2DD7-0308-3E072E198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F9F28-278E-A9A2-18D9-8BDCDB05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2E8AD6-D081-0182-C91A-26305C5E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E5081-698E-47DE-3D17-C5680AE4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48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52BFF-26A5-55E6-73BD-E723ED94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09FAC-FE0C-5B5D-BA71-A925E6F4A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E7B46C-F468-21D4-3119-228CB996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2F72C1-16AC-CEC4-7EE1-23B9CE5F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0921DD-6CD4-BF14-D89B-7A441ABB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B578AD-B2D3-4CBD-C288-1CF9F9B5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92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5A4B5-DA0E-9E49-018F-3FF38032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0F0FFA-8727-C019-DC5F-A32CAA923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9693DD-D7A3-1E11-A1E9-246F7C0B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4407F8-9750-2633-0129-EE03E293E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0546F5-1DE4-DDF4-9F35-D61F4023F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DE8CD6-8A98-E868-58AA-57BA46F4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704DE5-DF0C-4F47-A19D-9AFC21D6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828A39-477D-754A-5C33-F4035E43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04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EE2DE-2805-2743-F7C7-6BF27756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3B3DAF-9244-213A-E8CD-1045DA0C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CDAEBA-CE10-EAA9-6054-1F31FB5B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03C506-03F2-F5CD-46AC-ABE7E97F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89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2AFBAA-6812-A731-9DF5-3BD1B1A20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02EDD6-95E3-F574-DD23-16433372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843C5-A310-F0AB-FE08-9BFD5BC9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6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1657B-80F3-7182-4F2B-150F314B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238B0A-F5FB-12C4-8511-3542BD82A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3AA355-4CBC-E4A3-689A-BD4DD44C3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BAE5DA-51C7-22CA-8489-50F1AD1F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EC9E92-9DFF-288C-F110-35A18433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F5707C-33CD-FE4F-8C7A-FD998D64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8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28E1E-710E-7ADA-9F09-DB7A7498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35E42D-3D91-3F3F-1FFD-8F55AEC57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A2D59E-4D29-D5F3-07E5-B9643BAA1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2AC36-A4B6-CDB8-D04E-2B2DB24C0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32A224-162A-2A07-65DF-6BA9F803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05F1C6-3B17-6DC4-737E-407FAB79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55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B7E23-8959-5886-7E8E-6A5556D6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BF200C-52DD-4637-A457-8AEAFFA0B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DC6FDD-5E1F-50E1-8CE5-6EA2BE43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86946-7681-C59E-635F-CFD35845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8D4286-7F63-94F3-0CB3-3B5A3A85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77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4E0EB-6C27-3DFF-E262-247200544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B9F803-621C-D3CF-EAD3-AD62533F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5126D4-6E2D-0587-31D5-F9C494F0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9C7C9-E809-3153-FF16-536EC76B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645F7E-4534-1C7F-1790-0B6B142A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99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68C8A3-2565-41C8-D08B-0D5E8627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5334E-236B-9E67-76FB-782C2A2F1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D6437-BDC4-7556-E5A8-CB61CBC17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A1EC0-78C6-4C80-BB3F-A7FB912721D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508DB-9809-7E3F-0C68-3ECCF1149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5157D0-C8F9-B849-038D-9840B98BD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8B389-6DA4-43F9-BBDE-D2112B397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32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31A14-C83F-0E0B-8185-AA8CE28D8306}"/>
              </a:ext>
            </a:extLst>
          </p:cNvPr>
          <p:cNvSpPr txBox="1"/>
          <p:nvPr/>
        </p:nvSpPr>
        <p:spPr>
          <a:xfrm>
            <a:off x="762000" y="24892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400" b="1">
                <a:latin typeface="Malgun Gothic" panose="020B0503020000020004" pitchFamily="50" charset="-127"/>
                <a:ea typeface="Malgun Gothic" panose="020B0503020000020004" pitchFamily="50" charset="-127"/>
              </a:rPr>
              <a:t>Project Abyss — </a:t>
            </a:r>
            <a:r>
              <a:rPr lang="ko-KR" altLang="en-US" sz="3400" b="1">
                <a:latin typeface="Malgun Gothic" panose="020B0503020000020004" pitchFamily="50" charset="-127"/>
                <a:ea typeface="Malgun Gothic" panose="020B0503020000020004" pitchFamily="50" charset="-127"/>
              </a:rPr>
              <a:t>구현 설명서 </a:t>
            </a:r>
            <a:r>
              <a:rPr lang="en-US" altLang="ko-KR" sz="3400" b="1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3400" b="1">
                <a:latin typeface="Malgun Gothic" panose="020B0503020000020004" pitchFamily="50" charset="-127"/>
                <a:ea typeface="Malgun Gothic" panose="020B0503020000020004" pitchFamily="50" charset="-127"/>
              </a:rPr>
              <a:t>보강</a:t>
            </a:r>
            <a:r>
              <a:rPr lang="en-US" altLang="ko-KR" sz="3400" b="1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3400" b="1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DA2D2-EF1B-F505-4A50-B38739CD1C27}"/>
              </a:ext>
            </a:extLst>
          </p:cNvPr>
          <p:cNvSpPr txBox="1"/>
          <p:nvPr/>
        </p:nvSpPr>
        <p:spPr>
          <a:xfrm>
            <a:off x="762000" y="3378200"/>
            <a:ext cx="106680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준비 행동 </a:t>
            </a:r>
            <a:r>
              <a:rPr lang="en-US" altLang="ko-KR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   </a:t>
            </a:r>
            <a:r>
              <a:rPr lang="en-US" altLang="ko-KR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|   2026-08-16 </a:t>
            </a:r>
            <a:r>
              <a:rPr lang="ko-KR" altLang="en-US" sz="1700">
                <a:latin typeface="Malgun Gothic" panose="020B0503020000020004" pitchFamily="50" charset="-127"/>
                <a:ea typeface="Malgun Gothic" panose="020B0503020000020004" pitchFamily="50" charset="-127"/>
              </a:rPr>
              <a:t>기준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A954D-9587-EE0C-1741-D23A19EE49B0}"/>
              </a:ext>
            </a:extLst>
          </p:cNvPr>
          <p:cNvSpPr txBox="1"/>
          <p:nvPr/>
        </p:nvSpPr>
        <p:spPr>
          <a:xfrm>
            <a:off x="762000" y="5969000"/>
            <a:ext cx="106680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출처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: Project-Abyss/Docs/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전투 시스템 규칙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.md   ·  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앞선 「올라프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유진」 설명서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(2026-08-02)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의 후속</a:t>
            </a:r>
          </a:p>
        </p:txBody>
      </p:sp>
    </p:spTree>
    <p:extLst>
      <p:ext uri="{BB962C8B-B14F-4D97-AF65-F5344CB8AC3E}">
        <p14:creationId xmlns:p14="http://schemas.microsoft.com/office/powerpoint/2010/main" val="263939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F8F36-391D-CDAB-760B-A01FD268CA28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이 문서의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F25A0-3FA5-0906-CAD5-D10D12C550F0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앞 설명서 이후에 확정된 것만 담았다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겹치는 내용은 다시 적지 않았다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070AE-2F52-F04A-B1AC-C40DE95DFD4B}"/>
              </a:ext>
            </a:extLst>
          </p:cNvPr>
          <p:cNvSpPr txBox="1"/>
          <p:nvPr/>
        </p:nvSpPr>
        <p:spPr>
          <a:xfrm>
            <a:off x="508000" y="16002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덱이 다루는 것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준비 단계와 도사림 적용 시점 ② 유진 「환형」의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UI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정리 ③ 히후미 전체 ④ 공용 상태이상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버프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디버프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표기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앞 덱과 동일하다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•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확정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미정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주의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수치는 전부 정수이고 화면에 소수는 나오지 않는다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앞 덱에서 낡은 슬라이드 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함께 배포한다면 이 둘은 이 덱의 내용으로 대체할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「턴 진행 순서」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슬라이드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구 문구 *위세 → 도사림 → 속도순 합*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2026-08-11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계획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해결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단계로 개정됐다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「아직 정해지지 않은 것」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슬라이드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32)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부위 체력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180/144/60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은 폐기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현행은 플레이어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100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보스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150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잡몹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45(3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마리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또는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34(4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마리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덱의 수치 중 히후미 관련은 몬테카를로 실측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상태이상은 전부 해석식이다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시뮬 미구현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슬라이드마다 표시했다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78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B62A7D-E58C-8A02-287E-912EB90EC3F7}"/>
              </a:ext>
            </a:extLst>
          </p:cNvPr>
          <p:cNvSpPr txBox="1"/>
          <p:nvPr/>
        </p:nvSpPr>
        <p:spPr>
          <a:xfrm>
            <a:off x="889000" y="2997200"/>
            <a:ext cx="10414000" cy="584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턴 준비 단계와 도사림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64A20-B3C7-47DA-7186-EA582FDFF12B}"/>
              </a:ext>
            </a:extLst>
          </p:cNvPr>
          <p:cNvSpPr txBox="1"/>
          <p:nvPr/>
        </p:nvSpPr>
        <p:spPr>
          <a:xfrm>
            <a:off x="889000" y="3810000"/>
            <a:ext cx="104140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도사림이 「언제」 적용되는가가 값을 정한다</a:t>
            </a:r>
          </a:p>
        </p:txBody>
      </p:sp>
    </p:spTree>
    <p:extLst>
      <p:ext uri="{BB962C8B-B14F-4D97-AF65-F5344CB8AC3E}">
        <p14:creationId xmlns:p14="http://schemas.microsoft.com/office/powerpoint/2010/main" val="176438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CFCF74-D4BA-28D8-C0ED-321E68829F8F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턴 진행 순서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(2026-08-11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개정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2300" b="1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4146F-0F19-D78B-31B2-5AE764BEFFBE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한 턴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계획 단계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해결 단계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계획 단계의 행동은 누르는 즉시 적용된다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E9FEA-1AED-8011-2FAA-D138E19AF580}"/>
              </a:ext>
            </a:extLst>
          </p:cNvPr>
          <p:cNvSpPr txBox="1"/>
          <p:nvPr/>
        </p:nvSpPr>
        <p:spPr>
          <a:xfrm>
            <a:off x="508000" y="1600200"/>
            <a:ext cx="11176000" cy="224676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[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계획 단계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]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즉시 적용</a:t>
            </a:r>
          </a:p>
          <a:p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–  1.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속도 굴림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아군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슬롯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적의 모든 슬롯이 각자 굴린다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매 턴 다시 굴리고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범위는 항상 플레이어에게 노출된다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2.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준비 행동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무기 교체를 쓰면 그 자리에서 효과가 적용된다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3.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슬롯 배치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지불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굴림 결과와 적의 예정 행동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단계로 확정된 자원 상황을 보고 지정한다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빛은 여기서 낸다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[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해결 단계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]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「턴 종료」 이후</a:t>
            </a:r>
          </a:p>
          <a:p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–  4.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 발동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속도 순서와 무관하게 제일 먼저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5.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속도순 합 처리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남은 아군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 슬롯을 한 풀에 섞어 속도 빠른 순으로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합 결과마다 기세 바가 즉시 움직이므로 처리 순서가 뒤 슬롯의 데미지 구간을 바꾼다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개정의 핵심은 순서가 아니라 「빛을 언제 내는가」의 명문화다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구 문구는 슬롯 배치와 빛 지불 시점을 한 번도 정하지 않았고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그 빈칸이 아래 슬라이드의 문제를 만들었다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95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8B2E4-BF41-2E15-0B58-C3FC5CEF4021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준비 행동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도사림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무기 교체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위세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849DF-1DF5-C24E-095A-33DBE85D686F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셋 다 합이 붙지 않고 팔 슬롯을 쓰지 않는다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단 타이밍은 둘로 갈린다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04FCD-397C-3B62-C1DC-532CF9D88F2B}"/>
              </a:ext>
            </a:extLst>
          </p:cNvPr>
          <p:cNvSpPr txBox="1"/>
          <p:nvPr/>
        </p:nvSpPr>
        <p:spPr>
          <a:xfrm>
            <a:off x="508000" y="16002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같은 성질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합 없음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팔 슬롯 안 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조준 없음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UI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상 같은 층으로 묶어도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다른 타이밍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무기 교체는 계획 단계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위세는 해결 단계 맨 앞이다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구현에서 이 둘을 같은 큐에 넣으면 안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핵심 규칙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도사림이 자원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등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을 준다면 그 자원을 같은 턴 슬롯 배치에 곧바로 쓸 수 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딸린 해소 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「위세 대 무기 교체」 순서 문제가 규칙 추가 없이 풀린다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 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 표식 부여량이 무기별 크리값에 종속인데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교체는 계획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위세는 해결이라 항상 교체가 먼저다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딸린 해소 ②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위세로 이번 턴 슬롯을 살 수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위세는 자원 조달 수단이 아니라 순수한 타이밍 결정이 되고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확정 정체성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「언제 쏠까」가 유일한 능동 레버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과 정확히 맞는다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09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5DFE0-F7E9-9C2C-7CA9-CA47C62DF36F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⚠ 구현 주의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자원 생산형 도사림의 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99C0D-525B-62E7-BFD9-9D0B42B73784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같은 턴에 쓸 수 있느냐 없느냐가 승률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.381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대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.007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을 갈랐다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96578-2072-2660-D2E8-2F4E0638A163}"/>
              </a:ext>
            </a:extLst>
          </p:cNvPr>
          <p:cNvSpPr txBox="1"/>
          <p:nvPr/>
        </p:nvSpPr>
        <p:spPr>
          <a:xfrm>
            <a:off x="508000" y="1600200"/>
            <a:ext cx="11176000" cy="138499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실측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빛 대출 기준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생산한 빛을 같은 턴에 쓸 수 있으면 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.381,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다음 턴으로 넘기면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.007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상한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걸려 대부분 증발하기 때문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따라서 자원을 생산하는 도사림은 소비형과 같은 눈금으로 값을 매기면 안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사실상 「그 턴 빛 상한을 올려주는 것」에 가깝다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시뮬은 절제를 모델링하지 못한다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 수치는 전부 「전투당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1~2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 사용」 기준이다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매 턴 쓰면 결투를 밀어내 붕괴한다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도사림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A .002 / B .055 / C .022).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자동 전투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AI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나 밸런스 검증 도구를 만든다면 여기에 사용 빈도 브레이크가 필요하다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23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5F9355-ED46-E932-5DC1-81AD44087BE8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유진 「환형」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전용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UI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가 필요 없다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2BD7B-9C62-12D0-B412-968CCDC21DD2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무기 교체는 처음부터 기계적으로 준비 행동이었고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이름만 없었다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1D5D4-989A-D322-BF86-240FF74ACE93}"/>
              </a:ext>
            </a:extLst>
          </p:cNvPr>
          <p:cNvSpPr txBox="1"/>
          <p:nvPr/>
        </p:nvSpPr>
        <p:spPr>
          <a:xfrm>
            <a:off x="508000" y="1600200"/>
            <a:ext cx="11176000" cy="203132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환형의 확정 스펙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맨 처음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슬롯도 패시브 칸도 쓰지 않음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셋은 그대로 준비 행동의 정의다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결론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무기 교체에 전용 화면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전용 버튼을 따로 둘 이유가 사라졌다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도사림과 같은 자리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계획 단계 준비 행동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넣으면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2026-07-28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「유진 전용 패시브 버튼」으로 잡았다가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2026-08-11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구조 개정으로 준비 행동 층에 흡수됐다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문서의 「유진 전용 패시브」 표기는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2026-08-13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「준비 행동」으로 정정됐다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교체의 무게는 그대로다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무기가 코인 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특징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처형 권한을 통째로 바꾼다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백우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낙일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종이 때리는 방식만 고르는 것과 층이 다르다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비용의 자연 비용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무기가 코인 수를 정하므로 빌드업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다코인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에서 처형형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저코인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으로 가는 턴은 그 자체로 굴림 손실이다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슬롯을 안 써도 공짜가 아니다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 근거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서사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오오타치는 길이 때문에 발도가 안 돼 미리 뽑아든 채 싸웠다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「큰 걸 꺼내드는 데 대가가 든다」로 읽힌다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6357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0E7645-33E6-CE12-95E9-AB7484EED2C8}"/>
              </a:ext>
            </a:extLst>
          </p:cNvPr>
          <p:cNvSpPr txBox="1"/>
          <p:nvPr/>
        </p:nvSpPr>
        <p:spPr>
          <a:xfrm>
            <a:off x="889000" y="2997200"/>
            <a:ext cx="10414000" cy="584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D59E6-5238-1586-6BB2-25EEF2F1B877}"/>
              </a:ext>
            </a:extLst>
          </p:cNvPr>
          <p:cNvSpPr txBox="1"/>
          <p:nvPr/>
        </p:nvSpPr>
        <p:spPr>
          <a:xfrm>
            <a:off x="889000" y="3810000"/>
            <a:ext cx="104140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친치로 </a:t>
            </a:r>
            <a:r>
              <a:rPr lang="en-US" altLang="ko-KR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뼈 </a:t>
            </a:r>
            <a:r>
              <a:rPr lang="en-US" altLang="ko-KR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반격 </a:t>
            </a:r>
            <a:r>
              <a:rPr lang="en-US" altLang="ko-KR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살을 주고 뼈를 취하는 검객</a:t>
            </a:r>
          </a:p>
        </p:txBody>
      </p:sp>
    </p:spTree>
    <p:extLst>
      <p:ext uri="{BB962C8B-B14F-4D97-AF65-F5344CB8AC3E}">
        <p14:creationId xmlns:p14="http://schemas.microsoft.com/office/powerpoint/2010/main" val="211533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1E71C-5B9E-3FC1-A5C7-C5D48A92E400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컨셉과 정체성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08C37-8364-7F30-A074-A347C450BF7C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회피로 피하지 않고 몸으로 받아낸 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받아낸 피해를 뼈로 응축해 되갚는다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F03DD-4474-1EE8-3140-B6BE0900C14A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육참골단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肉斬骨斷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적의 공격을 받아내고 그 피해를 자원으로 바꾼다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「안 맞는 흘리기형」이 아니라 「받아내고 되갚는」 쪽이다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히후미는 수비 굴림을 쓰지 않는다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설계 지침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맞아야 뼈를 버는데 수비 굴림은 안 맞는 굴림이라 자기 엔진을 굶긴다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RNG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소스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친치로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주사위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 216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가지 전수 열거로 값을 잡았다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아라시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시고로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판정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+18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(1-2-3) = −3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대박 확률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5.6%.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죽은 눈이 하나도 없다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216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가지 중 아무 일도 안 일어나는 경우가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셋 중 대실패가 이득이 되는 유일한 캐릭터이고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이것이 친치로를 히후미에게 준 결정적 근거다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기본위력 캐릭터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flat +1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친치로 평균이 중립보다 낮은 것을 캐릭터 단위로 보정한다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승리 경로는 딜이 아니라 부위 파괴다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파괴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보스 슬롯 봉쇄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파괴 권한 하나를 끄면 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.756 → .135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인 반면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반격 위력을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8 → 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분의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토막 내도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3.4pp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뿐이다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81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287334-5A22-CE15-920E-82AF8317D2E3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패시브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「몸을 버려야 떠오를 여울도 있다」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7BBBC-8462-D2E8-EBF7-09C978693680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효과는 둘이고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둘째를 빠뜨리면 캐릭터가 죽는다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BD445-913A-0857-5C3E-276795F9FD06}"/>
              </a:ext>
            </a:extLst>
          </p:cNvPr>
          <p:cNvSpPr txBox="1"/>
          <p:nvPr/>
        </p:nvSpPr>
        <p:spPr>
          <a:xfrm>
            <a:off x="508000" y="16002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짓눌림 상태에서 받는 피해 절반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②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짓눌림 상태에서 뼈 획득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×2.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구현 필수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②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 없으면 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.417 → .027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히후미는 판의 대부분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짓눌림 도달률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.944)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을 짓눌린 채로 보내는데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①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 피해 절감이 그대로 뼈 적립 절감이 되기 때문이다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두 조항은 반드시 짝으로 들어가야 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조항은 규칙에 처음부터 있었으나 시뮬에 구현된 적이 없었다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(2026-08-14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발견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그 전의 히후미 실측은 전부 규칙보다 후한 값이었다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자원 이름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「뼈」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올라프의 출혈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광기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유진의 살수의 감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낙점과 같은 층의 캐릭터 전용 자원이다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486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0E98C-9420-0C2F-2335-27762FE17C88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뼈 시스템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C92A6-B42E-2F89-E7EC-70AEBBD3C9F8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받아낸 피해를 응축하는 게이지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5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구간이고 한 구간이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100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2C68D-1CE0-14BD-5940-542DE60F3D19}"/>
              </a:ext>
            </a:extLst>
          </p:cNvPr>
          <p:cNvSpPr txBox="1"/>
          <p:nvPr/>
        </p:nvSpPr>
        <p:spPr>
          <a:xfrm>
            <a:off x="508000" y="16002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획득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실제로 받는 데미지와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1:1. (⚠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「받아낸 원본 피해」가 아니다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피해 감소를 쓰면 뼈도 줄어든다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뎀감이 안전한 수인 동시에 연료를 줄이는 대가다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.)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500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 문턱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500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한 구간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100.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상한과 문턱은 값이 같지만 별개 변수다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하나로 합치면 위세 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올인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 죽는다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짓눌림 구간에서는 획득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×2 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패시브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예외 하나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 「포커페이스」만 피격당 뼈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되사서 감소분을 상쇄한다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카드만 원본 기준을 유지하는 고유 능력이다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대실패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눈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 뜨면 전체 체력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60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자해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같은 양이 뼈가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턴당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 상한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뼈의 기회비용은 언제나 「만개 반격」이다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 반격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회가 승률 약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40pp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짜리라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만개를 미루는 어떤 사용도 그만큼을 지불한다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4363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4A342-D573-743B-41EA-F0BCEE1938F1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반격 메커니즘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D6707-7390-EDB2-D380-4D56154EB494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결투에서 진 교환이 그대로 반격 굴림이 된다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A0FBA-77D3-F388-19AC-372EA168183F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발생 조건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결투 대 결투로 맞부딪힌 합 안에서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내가 진 교환 하나당 반격 굴림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타이밍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합이 끝난 뒤 무저항 타격으로 한 번에 나간다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기세 바는 밀지 않는다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반격 위력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base 8 + 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구간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 1).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위력은 다이얼이 아니다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2~16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8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배 구간 전체가 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5.6pp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위력을 올리면 오히려 판이 짧아져 「적을 짓누름」이 줄어든다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(.161 → .092).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히후미는 길이가 자원이다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게이트 실패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적이 평타로 받으면 결투 대 결투가 성립하지 않아 반격 자체가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약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46%).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이때 뼈는 소모되지 않고 그대로 남는다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「오래 버티는 것」이 유일한 승리 조건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이긴 판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13.8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진 판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7.6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딜이 일부러 약해서 빨리 끝내는 승리 경로가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진짜 약점은 장기전이 아니라 단기전이다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174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3C6B2-60AF-2ECB-C416-B13F69A40EDB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반격 구간표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4E285-A185-3CB8-3C79-E49F3ADC1FBA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뼈가 얼마나 찼는지가 반격에 무엇이 붙는지를 정한다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113D49-CA85-F3EC-3327-9657A360F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51178"/>
              </p:ext>
            </p:extLst>
          </p:nvPr>
        </p:nvGraphicFramePr>
        <p:xfrm>
          <a:off x="508000" y="1574800"/>
          <a:ext cx="111760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0321275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49455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339845977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1325705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반격 회복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58617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1~2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되갚음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피해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3074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~300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0957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~400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43772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 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만개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500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350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즉시 약화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조건부 파괴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합당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 + 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바 푸시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25 + 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 전량 소모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9515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AC83D-9D82-3152-B679-3D56AFA86CF1}"/>
              </a:ext>
            </a:extLst>
          </p:cNvPr>
          <p:cNvSpPr txBox="1"/>
          <p:nvPr/>
        </p:nvSpPr>
        <p:spPr>
          <a:xfrm>
            <a:off x="508000" y="3276600"/>
            <a:ext cx="11176000" cy="93871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1:2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사다리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(30/60)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이고 만개는 그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5.8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배다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「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3·4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는 적게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, 5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는 파격적으로」가 값으로 성립한다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일반 규칙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대가 없는 자리에는 지속 자원을 놓을 수 없다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구간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3~4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반격은 뼈를 쓰지 않아 대가가 없고 판당 여러 번 터진다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여기 회복을 구간당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20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만 줘도 승률이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1.000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 된다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회복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350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 만개에만 있는 것은 필연이다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약화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파괴는 만개 전용이다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조건부 파괴를 구간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로 내리면 한 칸에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+41pp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로 과해진다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 두 값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(30/60)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 현재 히후미의 마스터 다이얼이다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한 칸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(15/30)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에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±15pp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가 움직인다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9442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660571-335C-2772-5707-61118EB26AB6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B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「골단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骨斷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D4AB2-057E-0FAC-0B24-0E5BB5EE3D0A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만개를 터뜨리는 전용 방출기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상시 장착 카드가 아니다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9CA90-D552-3128-0B67-4DCEDE629A76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스펙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굴림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기본위력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20 − 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구간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 4).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 반격은 골단에서만 나온다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다른 결투의 반격에는 구간 효과가 붙지 않는다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소모 조건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반격이 실제로 터지면 뼈를 전량 태운다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만개든 아니든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시전만 하고 게이트에 실패하면 뼈는 남는다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「쓰면 소모」로 구현하면 정반대 카드가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의도된 용법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뼈를 모으고 더 버틸 수 없을 때 한 번씩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뼈가 가득할 때만 꽂으므로 「터진 반격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 반격」이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소모 조건이 밸런스 장치다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없으면 골단 도배가 최적해가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.637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대 의도된 용법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.396).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조건을 켜면 도배는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.058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죽고 의도된 용법은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.407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무손실이다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20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은 격자 정가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(15)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보다 비싸다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의도적이다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히후미는 지는 것이 연료라 정가로 내리면 도배가 폭주한다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(.642 → .767).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44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49553B-D58F-8A4F-4AE4-7E6C9A4A2CD9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스킬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12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자리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053C1-ACA2-C28E-B532-4D826DDB8703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어휘 계열 둘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도박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판을 굴리는 축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육참골단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정체성 축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8A41A83-EFAE-16FD-FE1C-1907E5103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60234"/>
              </p:ext>
            </p:extLst>
          </p:nvPr>
        </p:nvGraphicFramePr>
        <p:xfrm>
          <a:off x="508000" y="1574800"/>
          <a:ext cx="11176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7450755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2320122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85140726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3023837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85484078"/>
                    </a:ext>
                  </a:extLst>
                </a:gridCol>
                <a:gridCol w="6654800">
                  <a:extLst>
                    <a:ext uri="{9D8B030D-6E8A-4147-A177-3AD203B41FA5}">
                      <a16:colId xmlns:a16="http://schemas.microsoft.com/office/drawing/2014/main" val="320295407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자리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굴림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기본위력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효과 요지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360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푼돈 걸기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12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빠른 기본 탈출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한 대 맞고 넘김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625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과감한 판단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14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완전 차단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다음 턴 속도 −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소모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없으면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+20) 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차단 성공 시 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+50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34709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A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육참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肉斬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12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져서 캐내는 상시 연료 엔진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7421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골단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骨斷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−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 구간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×4) 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만개 반격 전용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반격 시 뼈 전량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69668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C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무모한 베팅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13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조건부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70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이상이면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소모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없으면 디버프 받고 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+100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536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A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포커페이스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받는 피해 교환당 −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 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피격당 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+4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984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뼈에 새긴다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진 교환당 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+30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2118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C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살은 내주지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+100 ·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다음 턴 받는 피해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9394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환전 도사림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 판 접지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뼈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100 → 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즉시 회복 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70 (</a:t>
                      </a:r>
                      <a:r>
                        <a:rPr lang="ko-KR" altLang="en-US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위급 전용</a:t>
                      </a:r>
                      <a:r>
                        <a:rPr lang="en-US" altLang="ko-KR" sz="11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2417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831F95-ED80-38A1-1729-E85C59A81BBD}"/>
              </a:ext>
            </a:extLst>
          </p:cNvPr>
          <p:cNvSpPr txBox="1"/>
          <p:nvPr/>
        </p:nvSpPr>
        <p:spPr>
          <a:xfrm>
            <a:off x="508000" y="45466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「육참」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「골단」은 툴팁 첫 줄에 한자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肉斬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骨斷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를 병기할 것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육참골단은 알아도 반쪽만 떼면 낯설다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범위는 균등 굴림이 아니라 친치로 분포다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일반 범위와 대박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(5.6%)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을 따로 표기해야 한다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예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평타①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13~18 /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대박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30.</a:t>
            </a:r>
            <a:endParaRPr lang="ko-KR" altLang="en-US" sz="11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640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031FBB-9E78-39DF-48DC-0FCFAC51AEC0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FAAF5-1359-E3DE-DE9D-B168AEDC877E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공통 게이지가 임계에 닿으면 발동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런 시작에 하나를 고른다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A9EA6-251D-E979-857A-79E784FECE88}"/>
              </a:ext>
            </a:extLst>
          </p:cNvPr>
          <p:cNvSpPr txBox="1"/>
          <p:nvPr/>
        </p:nvSpPr>
        <p:spPr>
          <a:xfrm>
            <a:off x="508000" y="1600200"/>
            <a:ext cx="11176000" cy="203132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「도박수」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임계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50)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쌓인 뼈를 전량 태우고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태운 뼈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100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당 그 턴 모든 슬롯 위력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+6.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전량을 쓰지만 결과는 확정이라 도박이 아니라 「무리한 한 수」다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「올인」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임계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50)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뼈를 걸고 친치로를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번 굴려 가장 높은 결과를 취한다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단 셋 중 하나라도 대실패면 무조건 쪽박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아라시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×3 (7.65%)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시고로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×2 (7.22%)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목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+50 (64.5%)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꽝 본전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(12.5%)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대실패 전소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(8.11%).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「속임수」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임계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65)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그 턴 히후미의 모든 친치로 굴림을 아라시 또는 대실패로 고정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운을 없앤다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은 반격 트리와 정면 충돌한다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전량 소비가 곧 만개 포기라 반격 빌드에서는 순손실이다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1.13 → 0.50).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시뮬은 조건이 되면 무조건 지르므로 손해로 찍히지만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실제 플레이에서는 「반격 트리는 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을 안 든다」가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과부화 트리에서는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+8.4pp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이득이다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 기대값은 플러스지만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×1.14 + 50) 8%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씩 전부 날아가므로 반복하면 파산한다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다섯 번 지르면 판 생존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65%,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열 번이면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42%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9194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E3FCC2-AA71-31A2-968C-30760BE385FD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⚠ 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구현 함정 다섯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D09B2-C51C-AB06-E60D-BDDCB7A8E0EA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전부 실측에서 한 번씩 사고가 났던 자리다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모르면 조용히 틀린다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694E9-FEB5-6BC9-85EB-DC334A76636B}"/>
              </a:ext>
            </a:extLst>
          </p:cNvPr>
          <p:cNvSpPr txBox="1"/>
          <p:nvPr/>
        </p:nvSpPr>
        <p:spPr>
          <a:xfrm>
            <a:off x="508000" y="16002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골단의 뼈 소모는 「반격이 실제로 터졌을 때」만이다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시전만 하고 결투 대 결투 게이트에 실패하면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(46%)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뼈는 남는다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②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패시브의 「뼈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×2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」를 빠뜨리면 캐릭터가 죽는다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.417 → .027.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③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상한과 만개 문턱은 값이 같아도 별개 변수다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합치면 위세 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 죽는다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④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동점 처리를 반드시 명시할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규칙이 동점을 안 정하면 구현이 대신 정한다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실제로 자가 약화 대상이 인덱스순이라 늘 머리가 뽑혔고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머리 약화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결투 봉쇄라 짓눌림이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.486 → .013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으로 죽어 있었다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확정 순서는 팔 → 다리 → 머리다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⑤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 수치는 「전투당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1~2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회」 기준이다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매 턴 쓰면 결투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를 밀어내 붕괴한다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(A .002 / B .055 / C .022).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참고 기준선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보스전 실측 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.40 / 10.2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짓눌림 도달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.944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 부위 파괴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0.98.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회귀 테스트의 기준값으로 쓸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546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BAEE5F-156F-AF66-44C2-C36EC5A7C783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⚠ 히후미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아직 없는 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039DB-06C6-AB26-0E17-4087CD840161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코어는 닫혔다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비어 있는 건 수집 콘텐츠 쪽이다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91EE0-C85F-F94B-C8A8-4BCBF9134BE2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풀이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27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자리 중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9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자리만 찼다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2/9 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3/9 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도사림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4/9.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코어 전투는 돌아가지만 런 중에 뽑히는 물건이 대부분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9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자리는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트리 구조다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육참골단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육참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빈자리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과부화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무모한 베팅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빈자리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빈자리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육참골단 트리의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번째는 「약화 부여」 방향만 잡혔고 확정이 아니다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약화는 골단과 경쟁이 아니라 전제조건이다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 파괴가 약화 선행 조건부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육참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→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신규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약화 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→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부순다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트리가 닫힌다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반격 구간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3·4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회복 말고 다른 효과를 얹을지 미정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선행으로 공용 상태이상 구현이 필요하다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「런 시작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형 선택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기본 결투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종」이 공통 규칙인데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히후미의 기본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종이 무엇인지 문서에 명시돼 있지 않다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구현 전에 확인할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스펙에는 있으나 한 번도 구현된 적 없는 것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「체력 지불 → 부위 약화」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0276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E8A82-BC51-8498-5A23-0E6B21664F84}"/>
              </a:ext>
            </a:extLst>
          </p:cNvPr>
          <p:cNvSpPr txBox="1"/>
          <p:nvPr/>
        </p:nvSpPr>
        <p:spPr>
          <a:xfrm>
            <a:off x="889000" y="2997200"/>
            <a:ext cx="10414000" cy="584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735B8-0AF6-D77C-D646-C3A2CC704114}"/>
              </a:ext>
            </a:extLst>
          </p:cNvPr>
          <p:cNvSpPr txBox="1"/>
          <p:nvPr/>
        </p:nvSpPr>
        <p:spPr>
          <a:xfrm>
            <a:off x="889000" y="3810000"/>
            <a:ext cx="104140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버프 </a:t>
            </a:r>
            <a:r>
              <a:rPr lang="en-US" altLang="ko-KR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디버프 </a:t>
            </a:r>
            <a:r>
              <a:rPr lang="en-US" altLang="ko-KR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500">
                <a:latin typeface="Malgun Gothic" panose="020B0503020000020004" pitchFamily="50" charset="-127"/>
                <a:ea typeface="Malgun Gothic" panose="020B0503020000020004" pitchFamily="50" charset="-127"/>
              </a:rPr>
              <a:t>캐릭터를 안 가리는 범용 층</a:t>
            </a:r>
          </a:p>
        </p:txBody>
      </p:sp>
    </p:spTree>
    <p:extLst>
      <p:ext uri="{BB962C8B-B14F-4D97-AF65-F5344CB8AC3E}">
        <p14:creationId xmlns:p14="http://schemas.microsoft.com/office/powerpoint/2010/main" val="2852342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1BAB61-45B6-28EE-9B33-67A36B144209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상태이상이란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ED1DB-4DF6-AB81-5886-75B8947270FF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캐릭터 전용 키워드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출혈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표식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뼈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보다 한 층 아래의 얕은 범용 층이다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EA595-3350-2A8C-A8EA-4CFD8D5618D7}"/>
              </a:ext>
            </a:extLst>
          </p:cNvPr>
          <p:cNvSpPr txBox="1"/>
          <p:nvPr/>
        </p:nvSpPr>
        <p:spPr>
          <a:xfrm>
            <a:off x="508000" y="1600200"/>
            <a:ext cx="11176000" cy="160043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신설 이유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효과 어휘가 전부 자원 배관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출혈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표식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이라 「느낌 나는 상태이상」이 사실상 하나뿐이었고 그마저 올라프 전용이었다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층 관계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전용 키워드는 그대로 전용이고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공용은 그 아래다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기존 전용 효과들이 공용 층의 상위 티어로 재정의된다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예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보호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포커페이스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전용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재생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전용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공통 문법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스택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N 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효과 크기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N 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그 턴만 유지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중첩은 지속이 아니라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N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 커진다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부여 시 「이번 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다음 턴」을 고른다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앞 순서 굴림에서 걸면 그 턴 남은 교환이 혜택을 받고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마지막 굴림에서 걸면 다음 턴 예약이 낫다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굴림 자리가 선택을 강제하는 구조다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예외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회복 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재생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고통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 지속형이다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스택이 크기가 아니라 턴 수를 센다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축 하나가 통째로 예외라 개별 예외가 아니다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3201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10B48-F18B-AA39-2235-87228D2D0AE3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크기형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8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7A87B-345E-60FE-685B-F533148A38B4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스택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N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이 곧 효과 크기다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그 턴만 유지된다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B52F0A-29DD-CA0B-4710-0F4FBDC96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454646"/>
              </p:ext>
            </p:extLst>
          </p:nvPr>
        </p:nvGraphicFramePr>
        <p:xfrm>
          <a:off x="508000" y="1574800"/>
          <a:ext cx="11176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70053019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324028146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547913587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63436338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적용 굴림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전용 상위판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79058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+N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 전체 이동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굴림만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5297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쇠약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 전체 이동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굴림만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공포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올라프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53247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+N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 전체 이동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수비 굴림만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31969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무장해제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 전체 이동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수비 굴림만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공포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올라프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95553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골절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최댓값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폭이 줄어든다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최소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보장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4398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받는 피해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포커페이스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히후미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9171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균열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받는 피해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+N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6909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턴당 위세 게이지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+N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5909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A37482-914E-7EA8-1901-098496FF0FED}"/>
              </a:ext>
            </a:extLst>
          </p:cNvPr>
          <p:cNvSpPr txBox="1"/>
          <p:nvPr/>
        </p:nvSpPr>
        <p:spPr>
          <a:xfrm>
            <a:off x="508000" y="42672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지속형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재생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(N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턴간 턴 종료 시 회복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) /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고통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(N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턴간 회복 절반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부여량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고정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비누적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보류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마비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슬롯 축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는 보스 설계 후로 미뤄져 있다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현재 슬롯 축 디버프는 유진 전용 「봉인」뿐이다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8416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65D6BF-E70E-BB2B-2911-F9E998BA6B24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위력 증감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2×2 +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골절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11253-16F9-E7C9-B17B-442D60B6BB11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공격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수비를 가르고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증가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감소를 갈랐다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골절만 다른 방식으로 깎는다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887DF90-437C-0D25-E410-5EF9C70E6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933522"/>
              </p:ext>
            </p:extLst>
          </p:nvPr>
        </p:nvGraphicFramePr>
        <p:xfrm>
          <a:off x="508000" y="1574800"/>
          <a:ext cx="111760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804680825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400174739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14761125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401871234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굴림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수비 굴림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1004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증가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 전체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+1)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03847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감소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 전체 −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1)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쇠약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무장해제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공포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올라프 전용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3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13946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감소 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최댓값만 −</a:t>
                      </a:r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1)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4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골절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1922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FD026A5-A10D-FFE6-1DD4-29C130ED3B8E}"/>
              </a:ext>
            </a:extLst>
          </p:cNvPr>
          <p:cNvSpPr txBox="1"/>
          <p:nvPr/>
        </p:nvSpPr>
        <p:spPr>
          <a:xfrm>
            <a:off x="508000" y="2971800"/>
            <a:ext cx="11176000" cy="6001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 층의 진짜 갈림은 공수가 아니라 「범위 전체 이동」과 「최댓값만 절단」이다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앞의 다섯은 판정 범위를 통째로 밀어 폭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8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을 유지하고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골절만 위를 잘라 폭을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7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로 줄인다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골절은 평균을 내리는 것이 아니라 최대 출력을 막는 카드다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크기는 작지만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공용 감소의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0.6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배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굴림 타입을 안 가린다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크기를 내주고 범위를 산 카드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공포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전용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의 상위성은 크기가 아니라 범위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×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지속이다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크기는 −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로 같지만 두 채널을 한 번에 덮고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턴 간다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공용 둘을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스택씩 건 것의 약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배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459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FA1C0-5F42-7F86-EA38-7500F5E2417E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버프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디버프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크기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해석식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2300" b="1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6A5FC-5119-2E30-E20F-C676EE7E6D4F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폭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8 ·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위력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11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대칭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동률 재굴림 기준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교환 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회당 값이다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20B6B21-EC3A-3C4C-8CC7-931346D95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89756"/>
              </p:ext>
            </p:extLst>
          </p:nvPr>
        </p:nvGraphicFramePr>
        <p:xfrm>
          <a:off x="508000" y="1574800"/>
          <a:ext cx="111760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398088085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56202602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75383820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65253418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985846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판정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채널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수비 채널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교환 승률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93664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12~19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딜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8.5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피격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1.5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.500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5823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힘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13~20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딜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+2.66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.632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31977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쇠약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11~18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딜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2.48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.368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9984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견고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13~20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피격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0.52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.632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887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무장해제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11~18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피격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+0.61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.368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03113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공포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전용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11~18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딜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2.48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피격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+0.61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.368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57724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골절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12~18 (</a:t>
                      </a:r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폭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7)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딜 −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1.50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피격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+0.21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</a:t>
                      </a:r>
                      <a:r>
                        <a:rPr lang="en-US" altLang="ko-KR" sz="1200" b="0"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.429</a:t>
                      </a:r>
                      <a:endParaRPr lang="ko-KR" altLang="en-US" sz="1200" b="0"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5703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60CDB4-1837-C076-030A-6C65ECAEB434}"/>
              </a:ext>
            </a:extLst>
          </p:cNvPr>
          <p:cNvSpPr txBox="1"/>
          <p:nvPr/>
        </p:nvSpPr>
        <p:spPr>
          <a:xfrm>
            <a:off x="508000" y="39878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이 값들은 시뮬 실측이 아니라 해석식이다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10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종은 아직 시뮬에 하나도 구현돼 있지 않다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원칙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버프와 디버프 간 효율 등가는 목표가 아니다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좋은 버프와 안 좋은 버프가 있는 것이 정상이다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힘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+2.66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과 견고 −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0.52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처럼 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배 차이 나는 것을 수용한다</a:t>
            </a:r>
            <a:r>
              <a:rPr lang="en-US" altLang="ko-KR" sz="11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4776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A2448-CA56-E82D-34C7-BF897CF7ED67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합산 규칙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누산기가 둘이다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AB820-FCEC-85AD-6576-90928B011F0F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동시 부여는 상호 배제가 아니라 합산이다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단 모두가 한 눈금 위에서 더해지지는 않는다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0D00E-7937-11BE-ED85-EFD0FDE02960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범위 전체 이동 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쇠약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견고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무장해제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여기서 대수합으로 상쇄된다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최댓값 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골절만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시프트와 상쇄되지 않고 독립으로 얹힌다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예 ① 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 &amp;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쇠약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→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0.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판정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12~19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기준과 동일하다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예 ② 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 &amp;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골절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→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판정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13~19 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폭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7.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바닥은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올라가고 천장만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깎인다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따라서 골절은 힘으로 지울 수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「천장이 깎인 채로 전체가 올라간다」가 성립하고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이것이 골절을 별도 키워드로 남긴 실질적 이유다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합산은 거의 정확히 선형이다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+1(+2.66)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과 골절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1(−1.50)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을 같이 걸면 실제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+1.21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단독 값을 그냥 더한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+1.16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0.05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차이다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조합을 매번 다시 재지 않고 단독 값을 더해 어림해도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208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FE7C8C-83EF-7673-B0DF-9421430D4CE7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하한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27537-2E20-E082-A87E-998494B77743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상한은 키워드별로 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순합에 걸면 구멍이 생긴다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78410-243F-E6E2-1916-532529DF43C9}"/>
              </a:ext>
            </a:extLst>
          </p:cNvPr>
          <p:cNvSpPr txBox="1"/>
          <p:nvPr/>
        </p:nvSpPr>
        <p:spPr>
          <a:xfrm>
            <a:off x="508000" y="1600200"/>
            <a:ext cx="11176000" cy="224676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쇠약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무장해제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골절 상한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3~4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견고 상한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견고만 상한이 낮은 이유는 효율 판단이 아니라 천장이 박혀 있어서다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수비 굴림의 기대 피격이 애초에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1.5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라 그걸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으로 만드는 게 물리적 최대치인데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+3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에서 이미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1.16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으로 천장의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77%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나머지 넷은 천장이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상한을 순합에 걸면 안 된다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힘이 붙은 상대에게 쇠약을 걸 때 상한에 막혀 부여 자체가 무효화되는 구멍이 생긴다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키워드별로 두면 시프트 순합은 자연히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4 ~ +4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 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골절의 하한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굴림 최댓값은 최소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을 보장한다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굴림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1 ~ max(1, 8 − N).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범위가 사라지는 일이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3~4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에서는 걸리지 않는 안전장치이지 다이얼이 아니다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부여량은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1~2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스택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굴림이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고정되는 극단에서는 동률 재굴림이 양쪽 다 고정값일 때 결판이 나지 않는다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현행 상한에서는 도달 불가능하지만 고정값을 만드는 카드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등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와 겹칠 때 확인할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0820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E440C7-91A7-8C5B-D04C-1A4761AFB9C2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⚠ 공용 상태이상 </a:t>
            </a:r>
            <a:r>
              <a:rPr lang="en-US" altLang="ko-KR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남은 구멍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C05BA-25E0-EE55-232F-FE5791852A80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위력 축은 닫혔다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나머지 축엔 빈자리가 있다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3C28E-8131-ED69-EFF5-8794CB928382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열기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 게이지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+N)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의 반대짝이 없다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위세 충전을 깎는 공용 디버프가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지속 피해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도트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가 공용에 없다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재생의 정확한 반대 자리를 올라프 전용 「출혈」만 차지하고 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고통은 회복을 막을 뿐 체력을 깎지 않는다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속도 축이 공용 층에 아예 없다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속도는 부위 약화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다리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속도 최댓값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와 스킬 자가디버프에만 존재한다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마비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슬롯 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는 의도적 보류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지금 넣으면 승률을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100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으로 만든다는 판단으로 보스 설계 후로 미뤄져 있다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밸런스 시 최우선 확인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쇠약과 골절이 유진 「적설」의 확정 성질을 깬다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적설은 앞면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적 최대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에 지는 것이 정의인데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위력이 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만 되어도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21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되어 「앞면이 떠도 대부분 진다」로 바뀐다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무장해제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수비 전용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는 안 깬다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현재 판단은 「예외 처리 없이 수용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나중에 밸런스」다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112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D31C01-A528-DDB0-1CDD-B8B2E3A876BC}"/>
              </a:ext>
            </a:extLst>
          </p:cNvPr>
          <p:cNvSpPr txBox="1"/>
          <p:nvPr/>
        </p:nvSpPr>
        <p:spPr>
          <a:xfrm>
            <a:off x="508000" y="406400"/>
            <a:ext cx="11176000" cy="44627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300" b="1">
                <a:latin typeface="Malgun Gothic" panose="020B0503020000020004" pitchFamily="50" charset="-127"/>
                <a:ea typeface="Malgun Gothic" panose="020B0503020000020004" pitchFamily="50" charset="-127"/>
              </a:rPr>
              <a:t>구현 순서 제안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F10F1-3008-CA65-086C-2D9286120E48}"/>
              </a:ext>
            </a:extLst>
          </p:cNvPr>
          <p:cNvSpPr txBox="1"/>
          <p:nvPr/>
        </p:nvSpPr>
        <p:spPr>
          <a:xfrm>
            <a:off x="508000" y="11684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앞 단계가 뒤 단계의 전제를 이미 만족하도록 쌓았다</a:t>
            </a:r>
            <a:r>
              <a:rPr lang="en-US" altLang="ko-KR" sz="13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36498-D1BF-0E5F-A8B9-76F7538BC66B}"/>
              </a:ext>
            </a:extLst>
          </p:cNvPr>
          <p:cNvSpPr txBox="1"/>
          <p:nvPr/>
        </p:nvSpPr>
        <p:spPr>
          <a:xfrm>
            <a:off x="508000" y="1600200"/>
            <a:ext cx="11176000" cy="181588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1.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구조 개정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계획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해결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단계와 준비 행동 즉시 적용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이것부터 서야 도사림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환형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빛 경제가 전부 제자리를 찾는다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2.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유진 환형을 준비 행동 층으로 이동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전용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UI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제거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3.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코어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뼈 게이지 → 반격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진 교환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반격 굴림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 →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구간표 → 골단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순서로 쌓고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패시브 두 조항은 뼈 구현과 동시에 넣을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4.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공용 상태이상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누산기를 둘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범위 이동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최댓값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로 나눠 설계할 것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나중에 하나로 짜여 있으면 골절을 끼울 자리가 없다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5.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풀 확장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(18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자리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과 반격 구간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3·4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효과는 기획이 더 필요하다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코어가 도는 것을 먼저 확인한 뒤에 붙인다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회귀 테스트 기준값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히후미 보스전 승률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.40 / 10.2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짓눌림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.944 /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적 부위 파괴 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0.98. </a:t>
            </a:r>
            <a:r>
              <a:rPr lang="ko-KR" altLang="en-US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이 넷이 크게 흔들리면 위 함정 다섯 중 하나가 빠진 것이다</a:t>
            </a:r>
            <a:r>
              <a:rPr lang="en-US" altLang="ko-KR" sz="1400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718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4283</Words>
  <Application>Microsoft Office PowerPoint</Application>
  <PresentationFormat>사용자 지정</PresentationFormat>
  <Paragraphs>343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박준웅(학부생-소프트웨어전공)</dc:creator>
  <cp:lastModifiedBy>박준웅(학부생-소프트웨어전공)</cp:lastModifiedBy>
  <cp:revision>1</cp:revision>
  <dcterms:created xsi:type="dcterms:W3CDTF">2026-08-16T10:54:47Z</dcterms:created>
  <dcterms:modified xsi:type="dcterms:W3CDTF">2026-08-16T10:54:47Z</dcterms:modified>
</cp:coreProperties>
</file>