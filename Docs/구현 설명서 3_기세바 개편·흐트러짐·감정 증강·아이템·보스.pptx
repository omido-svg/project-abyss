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A5324-7768-315A-6D11-D6100CB6A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07F8C6-3E70-8677-7946-4E47D1CC1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4F491-AC06-F54B-2A48-2686D145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743DEA-4D3F-07ED-A1A3-8B935F98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611C0F-E039-CD3E-8F54-488D9FD4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3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7BE15E-1B4F-FCDA-CF95-1A6CDD0A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9BEA1-3EE2-4E15-0B5F-F509D2039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C5B330-F6FA-63AF-9C2F-ADCCE92C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1EFE4-D5E6-E3AE-91FC-85316F70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3A51-73B4-AB0B-7CB2-9225D79B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83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C9BB9-27F3-A62A-AB20-6C34EA29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D5DEA-3620-8C21-D1CA-56802E556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E220C-B1CA-2DA3-F401-4AC399C2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FE863F-676E-ADA2-AA78-13B99F27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B233A-2D7C-8212-BC90-DE3B39AC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12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C5163-933F-34DD-818F-EB318649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4974A9-2544-B832-D9AD-E20FB0ECA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57EA32-70B1-05B9-1579-3F1D26E2B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B5E3D4-6ED5-E5B8-9EC4-2D200871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9923FF-FBBD-61AF-91D0-BBA2D66D4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F7908-DF7B-C787-14C2-BAB31751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54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E5B9B-360B-0F65-F9B7-54CE0990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3502D5-B4EF-D1CB-DCBF-806E2767A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B9A95F-F22C-EC47-3FDF-A3EFD1D81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CEB75-55AC-DFEE-7D30-877758A11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67E2CA-16D0-0385-0BFD-271567B59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CC682D-7FA5-68E2-0F04-A3327B9E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A05A88-32D5-F800-28BB-3D5790C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C4AB51-D9D3-6179-BD41-EC969B60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5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9DA0E-B6C1-EC91-2D28-B38FF324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83CB59-23A2-2897-D573-7728CE621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F6082F-5209-6136-7288-9D64170A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7CE409-7D5E-226F-9FA8-5CB4BDE5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54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E864B4-941D-0952-D669-E564DE2B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C79573-529D-F94B-31CC-E12BFEA8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27522-BA94-1318-D682-FD87DEDB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29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CED34-A17A-EEAB-81EA-BCA4BF748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4B6A-786A-48F6-F1B8-1AD493BD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7689BD-93E6-09A2-6326-3F218834F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D92F97-15A7-2A1C-B247-F75455F7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83C280-B542-BB4B-A8A5-F1A475F2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08061-B437-2340-A539-A81B18B9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7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1F871-F9E1-4A67-D238-8F41EAE1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4C5D20-93EE-262F-9E77-A5D8B2F1D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2A2E75-7A19-2889-D443-DAA8FA792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7F1FAF-87FF-A2CE-9D1F-1F4D8AA5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C886B8-926B-FF4B-1A77-F6A7A5300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584600-8313-A087-D2A5-A8A3F7E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9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12569-C910-B857-32D9-6A422940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134373-0B6E-28B6-AEFB-191BEAB70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2855B-28F7-F80C-039F-F9A8B573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13EBB4-ED8F-5646-0F4E-090BDA8A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75E3-E3C8-F9E4-28FF-7B8472845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43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4A43B2-A169-D6C4-82B6-5AF3699E6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4C283D-FBE8-4B94-5E12-85D725AC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1E90F-8545-08F7-B621-B904C1BC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327917-67FE-804D-5FFB-52B98ED1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6A376-ACE8-9B2B-4E2F-41008EF4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86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E4153F-D17B-9283-A2E4-93BA39C8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E6DEDC-6616-9611-3334-70FA3A9A4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A074E-DB70-68B5-DD6B-2668C4C04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803CB-9C73-4795-9B21-4F70E07F5F8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A7403-B79F-B36B-5284-58EA440B4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3E1819-D7F9-F73B-4CC8-52F1E1438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E2918-04B1-4050-BA8F-D8F1DA75D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763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F6902-4075-51FD-CDC2-BDB2C6F2BE20}"/>
              </a:ext>
            </a:extLst>
          </p:cNvPr>
          <p:cNvSpPr txBox="1"/>
          <p:nvPr/>
        </p:nvSpPr>
        <p:spPr>
          <a:xfrm>
            <a:off x="762000" y="23622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Project Abyss —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구현 설명서 </a:t>
            </a: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(3)</a:t>
            </a:r>
            <a:endParaRPr lang="ko-KR" altLang="en-US" sz="20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34BA2-3FFA-E2F2-8DE2-0A4FB9B86B46}"/>
              </a:ext>
            </a:extLst>
          </p:cNvPr>
          <p:cNvSpPr txBox="1"/>
          <p:nvPr/>
        </p:nvSpPr>
        <p:spPr>
          <a:xfrm>
            <a:off x="762000" y="2743200"/>
            <a:ext cx="10668000" cy="11053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기세 바 개편 </a:t>
            </a:r>
            <a:r>
              <a:rPr lang="en-US" altLang="ko-KR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흐트러짐 </a:t>
            </a:r>
            <a:r>
              <a:rPr lang="en-US" altLang="ko-KR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감정 증강 </a:t>
            </a:r>
            <a:r>
              <a:rPr lang="en-US" altLang="ko-KR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아이템 </a:t>
            </a:r>
            <a:r>
              <a:rPr lang="en-US" altLang="ko-KR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· 1</a:t>
            </a:r>
            <a:r>
              <a:rPr lang="ko-KR" altLang="en-US" sz="3000" b="1">
                <a:solidFill>
                  <a:srgbClr val="000000"/>
                </a:solidFill>
                <a:latin typeface="맑은 고딕" panose="020B0503020000020004" pitchFamily="50" charset="-127"/>
              </a:rPr>
              <a:t>스테이지 보스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ADAB8-7A1B-EEC3-D3EA-358C00A77255}"/>
              </a:ext>
            </a:extLst>
          </p:cNvPr>
          <p:cNvSpPr txBox="1"/>
          <p:nvPr/>
        </p:nvSpPr>
        <p:spPr>
          <a:xfrm>
            <a:off x="762000" y="3581400"/>
            <a:ext cx="10668000" cy="3333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2026-08-17 ~ 09-06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신규 확정분  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|  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앞 설명서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(2026-08-16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기준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이후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720F8-AE81-0862-AB88-A2A20D9438EF}"/>
              </a:ext>
            </a:extLst>
          </p:cNvPr>
          <p:cNvSpPr txBox="1"/>
          <p:nvPr/>
        </p:nvSpPr>
        <p:spPr>
          <a:xfrm>
            <a:off x="762000" y="5969000"/>
            <a:ext cx="10668000" cy="2691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: Project-Abyss/Docs/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전투 시스템 규칙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.md 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개발로그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.md   ·   2026-09-06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695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60DA91-3C02-B052-3A4D-B3B09FFAFDD1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이 덱의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83394-9EF5-00B5-6722-3D4D20FB519C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앞 설명서 이후에 확정된 것만 담았다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겹치는 내용은 다시 적지 않았다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CEB29-D671-06A9-A2C1-E756C7A95C5F}"/>
              </a:ext>
            </a:extLst>
          </p:cNvPr>
          <p:cNvSpPr txBox="1"/>
          <p:nvPr/>
        </p:nvSpPr>
        <p:spPr>
          <a:xfrm>
            <a:off x="508000" y="1600200"/>
            <a:ext cx="11176000" cy="27961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앞의 세 덱이 다룬 것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①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전투 코어 기획안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(07-26) ②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공통 규칙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올라프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유진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(08-02) ③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준비 행동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히후미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공용 상태이상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(08-16)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이 덱이 다루는 것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①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기세 바 전면 개편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(v5) ②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타격 타입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내성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흐트러짐 게이지 ③ 감정 증강 ④ 아이템 시스템 ⑤ 스킬 강화 ⑥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스테이지 보스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수비 굴림</a:t>
            </a:r>
          </a:p>
          <a:p>
            <a:pPr>
              <a:lnSpc>
                <a:spcPct val="115000"/>
              </a:lnSpc>
            </a:pP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이 덱은 앞 덱의 일부를 무효화한다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아래 셋은 앞 덱 내용을 지우고 다시 읽을 것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–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기세 바 구간 데미지 배율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(×0.5 / ×2 / ×2.5)  →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전면 폐지</a:t>
            </a:r>
          </a:p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–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바가 전투 내내 누적된다  →  매 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으로 리셋</a:t>
            </a:r>
          </a:p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–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히트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바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5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결투 푸시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20  →  20 / 40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표기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확정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/ ⚠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미정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재검토 대상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⚠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표시는 하드코딩하지 말고 파라미터로 뺄 것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487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6DF852-7402-E79F-22E9-1128423BC837}"/>
              </a:ext>
            </a:extLst>
          </p:cNvPr>
          <p:cNvSpPr txBox="1"/>
          <p:nvPr/>
        </p:nvSpPr>
        <p:spPr>
          <a:xfrm>
            <a:off x="762000" y="26670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1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E3F78-8845-A5C0-F4A7-86B9F01F7E8F}"/>
              </a:ext>
            </a:extLst>
          </p:cNvPr>
          <p:cNvSpPr txBox="1"/>
          <p:nvPr/>
        </p:nvSpPr>
        <p:spPr>
          <a:xfrm>
            <a:off x="762000" y="3124200"/>
            <a:ext cx="10668000" cy="606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기세 바 전면 개편 </a:t>
            </a:r>
            <a:r>
              <a:rPr lang="en-US" altLang="ko-KR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(v5)</a:t>
            </a:r>
            <a:endParaRPr lang="ko-KR" altLang="en-US" sz="3200" b="1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EF0EA-519C-94F1-D3A3-416B790A24B8}"/>
              </a:ext>
            </a:extLst>
          </p:cNvPr>
          <p:cNvSpPr txBox="1"/>
          <p:nvPr/>
        </p:nvSpPr>
        <p:spPr>
          <a:xfrm>
            <a:off x="762000" y="3886200"/>
            <a:ext cx="10668000" cy="317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앞 덱의 기세 바 절을 대체한다</a:t>
            </a:r>
          </a:p>
        </p:txBody>
      </p:sp>
    </p:spTree>
    <p:extLst>
      <p:ext uri="{BB962C8B-B14F-4D97-AF65-F5344CB8AC3E}">
        <p14:creationId xmlns:p14="http://schemas.microsoft.com/office/powerpoint/2010/main" val="793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91ED98-A1C6-7662-F149-9219D66F8F53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용어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기세 → 고조 → 열광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75F6D-9C29-E9CD-6F9A-C2EC170EDA46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게이지가 셋으로 갈렸다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이름이 곧 층위다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7877172-4546-AE21-7C7E-B4B78FEC9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51430"/>
              </p:ext>
            </p:extLst>
          </p:nvPr>
        </p:nvGraphicFramePr>
        <p:xfrm>
          <a:off x="508000" y="1574800"/>
          <a:ext cx="11176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453139015"/>
                    </a:ext>
                  </a:extLst>
                </a:gridCol>
                <a:gridCol w="10417810">
                  <a:extLst>
                    <a:ext uri="{9D8B030D-6E8A-4147-A177-3AD203B41FA5}">
                      <a16:colId xmlns:a16="http://schemas.microsoft.com/office/drawing/2014/main" val="160514984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25419117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용어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무엇인가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65298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매 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으로 리셋되는 줄다리기 바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그 턴 최종 위치가 고조 충전량을 정한다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-100 ~ +100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2157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고조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기세로 차는 누적 게이지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333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열광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고조가 문턱을 넘을 때마다 오르는 레벨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레벨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0~3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1151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0EF60C-396D-89A0-11F3-E6D3D807D61A}"/>
              </a:ext>
            </a:extLst>
          </p:cNvPr>
          <p:cNvSpPr txBox="1"/>
          <p:nvPr/>
        </p:nvSpPr>
        <p:spPr>
          <a:xfrm>
            <a:off x="508000" y="3327400"/>
            <a:ext cx="11176000" cy="6594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레벨업마다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빛 최대치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+1  +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전량 회복 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감정 증강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중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선택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셋 다 매번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위세 버프 「열기」와 다른 것이다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열기는 위세 게이지 충전 속도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+N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이고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고조는 열광 레벨용 게이지다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둘 다 「차는 것」이라 가장 헷갈리는 자리다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구 이름 「칸 게이지」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「레벨업 보상」은 폐기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단 「칸」은 고조의 눈금 단위로 남는다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고조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칸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열광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레벨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702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EFC665-18AB-54CA-D63C-518EE2C53B71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매 턴 리셋 구조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확정 수치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93EC5-0740-1C55-98B5-C2D3CDEE434E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바는 매 턴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에서 시작하고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그 턴이 끝난 위치의 구간으로 칸을 채운다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227C702-9E0B-F7C5-16EB-CEB6D133E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948990"/>
              </p:ext>
            </p:extLst>
          </p:nvPr>
        </p:nvGraphicFramePr>
        <p:xfrm>
          <a:off x="508000" y="1574800"/>
          <a:ext cx="111760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630">
                  <a:extLst>
                    <a:ext uri="{9D8B030D-6E8A-4147-A177-3AD203B41FA5}">
                      <a16:colId xmlns:a16="http://schemas.microsoft.com/office/drawing/2014/main" val="1992276639"/>
                    </a:ext>
                  </a:extLst>
                </a:gridCol>
                <a:gridCol w="10326370">
                  <a:extLst>
                    <a:ext uri="{9D8B030D-6E8A-4147-A177-3AD203B41FA5}">
                      <a16:colId xmlns:a16="http://schemas.microsoft.com/office/drawing/2014/main" val="206696726"/>
                    </a:ext>
                  </a:extLst>
                </a:gridCol>
              </a:tblGrid>
              <a:tr h="319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727866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바 초기화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매 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으로 리셋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그 턴 최종 위치가 곧 그 턴의 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62567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구간 임계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±30 / ±70 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구간 이름도 그대로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열세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중립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우세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짓누름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짓눌림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422782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미는 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히트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회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= 20  · 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결투 푸시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= 40   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구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10 / 20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의 두 배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22861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 충전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턴당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짓누름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10  / 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우세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  / 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중립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  / 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열세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  / 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짓눌림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472578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레벨 문턱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 to 1 = 4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 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 1 to 2 = 8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 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 2 to 3 = 10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  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22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015033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레벨 상한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7813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D6918F-3F33-2301-4333-2F9449DEB117}"/>
              </a:ext>
            </a:extLst>
          </p:cNvPr>
          <p:cNvSpPr txBox="1"/>
          <p:nvPr/>
        </p:nvSpPr>
        <p:spPr>
          <a:xfrm>
            <a:off x="508000" y="3962400"/>
            <a:ext cx="11176000" cy="65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푸시를 두 배로 올린 이유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임계를 그대로 두면 한 턴에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±70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을 못 만든다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10/20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에서는 낙일이 짓누름을 판 내내 한 번도 못 만들었다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도달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.0005).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25/50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은 낙일이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.61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로 튀어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코인이라 임계 근처가 계단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 20/40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 상한이다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문턱을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4/8/10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으로 올린 이유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4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칸 하나로 두면 종료 빛 최대치가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5.0~6.0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으로 튄다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사다리가 그걸 눌러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4.5~5.7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로 돌아온다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002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F77382-BC73-0AFB-C40E-CD66A5059684}"/>
              </a:ext>
            </a:extLst>
          </p:cNvPr>
          <p:cNvSpPr txBox="1"/>
          <p:nvPr/>
        </p:nvSpPr>
        <p:spPr>
          <a:xfrm>
            <a:off x="508000" y="406400"/>
            <a:ext cx="11176000" cy="4639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⚠ 구간 데미지 배율 전면 폐지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앞 덱 무효화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2300" b="1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658B-893E-2B08-2780-FA4885D168DA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바는 이제 데미지에 곱하지 않는다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바가 주는 것은 오직 고조 칸이다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42DB6-AAE4-CCB7-BDE2-C023C76E13DC}"/>
              </a:ext>
            </a:extLst>
          </p:cNvPr>
          <p:cNvSpPr txBox="1"/>
          <p:nvPr/>
        </p:nvSpPr>
        <p:spPr>
          <a:xfrm>
            <a:off x="508000" y="1600200"/>
            <a:ext cx="11176000" cy="25483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폐지된 것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구간별 공격 위력 배율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×0.5 / ×2 / ×2.5,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그리고 최대 칸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구간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단계 →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폐지 사유 ①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흐트러짐 창의 「내성 모두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」와 곱해지면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배가 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곱연산이 이 게임에 하나만 있어야 하는 이유가 여기서 깨졌다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폐지 사유 ②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실측이 부호를 뒤집었다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배율은 「강한 쪽 보너스」가 아니라 사실상 플레이어 페널티 장치였다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짓눌림 체류가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.95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라 판의 대부분에 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×0.5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와 적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가 걸려 있었다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배율을 없애자 히후미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.400 → .807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올라프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.496 → .788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로 올랐다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대신 남은 것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바는 「고조 칸을 얼마나 채우는가」로만 값을 낸다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곱연산은 흐트러짐 창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내성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×2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덮어쓰기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하나뿐이다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발악은 유지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판정 기준은 「지난 턴을 짓눌린 채 끝냈으면 이번 턴 내내」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턴 종료 시 바 기준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123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FFBD04-8FDB-7C3B-E9F5-9B9B8CBD3401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실측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잡몹은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1~2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레벨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보스는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2~3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레벨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89C4B-6088-EFFA-79B2-15824974FDE8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엔진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v1.75 · 20000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회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3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레벨은 보스의 것이다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9D28A33-D44D-7C65-8888-9190D3E36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658061"/>
              </p:ext>
            </p:extLst>
          </p:nvPr>
        </p:nvGraphicFramePr>
        <p:xfrm>
          <a:off x="508000" y="1574800"/>
          <a:ext cx="111760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8681">
                  <a:extLst>
                    <a:ext uri="{9D8B030D-6E8A-4147-A177-3AD203B41FA5}">
                      <a16:colId xmlns:a16="http://schemas.microsoft.com/office/drawing/2014/main" val="35963670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2124541679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1963890459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725826215"/>
                    </a:ext>
                  </a:extLst>
                </a:gridCol>
                <a:gridCol w="697229">
                  <a:extLst>
                    <a:ext uri="{9D8B030D-6E8A-4147-A177-3AD203B41FA5}">
                      <a16:colId xmlns:a16="http://schemas.microsoft.com/office/drawing/2014/main" val="86252276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히후미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올라프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백우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낙일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93898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잡몹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종료 레벨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1.47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1.56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2.02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1.67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07404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잡몹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레벨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도달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9%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6%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20%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7%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39418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보스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종료 레벨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1.77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2.44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2.70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2.09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54057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보스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레벨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도달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18%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58%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74%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52%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0846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22F3BE-3792-4171-33F3-740B30731C72}"/>
              </a:ext>
            </a:extLst>
          </p:cNvPr>
          <p:cNvSpPr txBox="1"/>
          <p:nvPr/>
        </p:nvSpPr>
        <p:spPr>
          <a:xfrm>
            <a:off x="508000" y="3657600"/>
            <a:ext cx="11176000" cy="8531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레벨업 빈도가 판당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1.5~2.7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이라 빛 경제가 안 흔들린다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구 즉시 래칫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1.2~1.7).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캐릭터 편차가 이 시스템의 대가다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보스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레벨이 히후미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.18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대 백우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.74.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히후미는 짓눌림 체류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.61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이라 칸을 못 채운다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이건 알고 수용한 값이다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압도는 스스로를 상쇄한다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강해지면 짓누름 비율은 오르지만 전투가 짧아져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올라프 잡몹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4.24 → 2.82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턴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총 칸이 그만큼 안 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긴 보스전에서만 성장이 그대로 먹힌다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810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88C943-BD4B-F7CC-2DB3-83F3365D332E}"/>
              </a:ext>
            </a:extLst>
          </p:cNvPr>
          <p:cNvSpPr txBox="1"/>
          <p:nvPr/>
        </p:nvSpPr>
        <p:spPr>
          <a:xfrm>
            <a:off x="762000" y="26670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2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5A309-E976-DF5F-935F-C8ACBEEBEAE9}"/>
              </a:ext>
            </a:extLst>
          </p:cNvPr>
          <p:cNvSpPr txBox="1"/>
          <p:nvPr/>
        </p:nvSpPr>
        <p:spPr>
          <a:xfrm>
            <a:off x="762000" y="3124200"/>
            <a:ext cx="10668000" cy="606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타격 타입 </a:t>
            </a:r>
            <a:r>
              <a:rPr lang="en-US" altLang="ko-KR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내성 </a:t>
            </a:r>
            <a:r>
              <a:rPr lang="en-US" altLang="ko-KR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흐트러짐 게이지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DCC31-6BBE-B591-F2F7-290E2A794BAA}"/>
              </a:ext>
            </a:extLst>
          </p:cNvPr>
          <p:cNvSpPr txBox="1"/>
          <p:nvPr/>
        </p:nvSpPr>
        <p:spPr>
          <a:xfrm>
            <a:off x="762000" y="3886200"/>
            <a:ext cx="10668000" cy="3185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신설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2026-08-17 ·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구조 확정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/ ⚠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수치 일부 미정</a:t>
            </a:r>
          </a:p>
        </p:txBody>
      </p:sp>
    </p:spTree>
    <p:extLst>
      <p:ext uri="{BB962C8B-B14F-4D97-AF65-F5344CB8AC3E}">
        <p14:creationId xmlns:p14="http://schemas.microsoft.com/office/powerpoint/2010/main" val="210566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FC4DFE-2A20-E649-E7AA-ABCA69BF0EAE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타격 타입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굴림의 속성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3A184-4637-F554-4C7F-857BD6C48F18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캐릭터가 타입을 갖는 게 아니라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굴림 하나하나에 타입이 붙는다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B9278-49C8-2C69-22A6-83C360254CE4}"/>
              </a:ext>
            </a:extLst>
          </p:cNvPr>
          <p:cNvSpPr txBox="1"/>
          <p:nvPr/>
        </p:nvSpPr>
        <p:spPr>
          <a:xfrm>
            <a:off x="508000" y="1600200"/>
            <a:ext cx="11176000" cy="7625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타입은 절단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관통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타격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종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한 스킬 안에서도 굴림별로 갈릴 수 있다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유진만 예외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무기가 타입을 정한다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낙일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백우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적설 각각에 배정되고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그 무기를 든 동안 모든 굴림이 그 타입이다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굴림 단위인 것이 곱연산 위험을 구조적으로 없앤다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실효 배율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= Σ(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굴림별 타입 배율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) 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굴림 수 로 희석된다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682814E-7A16-85A3-58F8-E2000067F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112021"/>
              </p:ext>
            </p:extLst>
          </p:nvPr>
        </p:nvGraphicFramePr>
        <p:xfrm>
          <a:off x="508000" y="2870200"/>
          <a:ext cx="1117600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2580">
                  <a:extLst>
                    <a:ext uri="{9D8B030D-6E8A-4147-A177-3AD203B41FA5}">
                      <a16:colId xmlns:a16="http://schemas.microsoft.com/office/drawing/2014/main" val="1337931625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1457587296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굴림 스킬의 타입 구성 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절단 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×0.5 / 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타격 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×2 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가정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실효 배율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83069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절단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 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전부 저항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0.50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122764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절단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 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관통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0.75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079035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절단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 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관통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 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타격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1.13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10857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타격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 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전부 약점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1104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EA30C8D-4C65-272D-C2E1-B71214C37075}"/>
              </a:ext>
            </a:extLst>
          </p:cNvPr>
          <p:cNvSpPr txBox="1"/>
          <p:nvPr/>
        </p:nvSpPr>
        <p:spPr>
          <a:xfrm>
            <a:off x="508000" y="4572000"/>
            <a:ext cx="11176000" cy="6594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→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스킬의 타입 구성이 곧 「누구에게 강한가」가 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섞으면 안정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몰면 도박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새 차별화 축이다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유진이 가장 크게 노출된다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무기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타입 하나라 희석을 못 받는다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전부 아니면 전무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대응은 무기 교체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환형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인데 효과가 다음 턴부터라 한 턴을 버린다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표기 부담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스킬 표가 「굴림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N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개」에서 「굴림별 타입」으로 바뀐다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186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7BA38-ECB7-E0F9-DC71-1160C64EFD79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흐트러짐 게이지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체력과 별개 게이지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별개 내성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637D0-BBAA-63FE-57BC-3D287E3B7EDA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굴림 값으로 깎이고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, 0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 되면 한 턴 동안 창이 열린 뒤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100%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회복된다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929AC-F614-1792-B3DE-1C034EA26965}"/>
              </a:ext>
            </a:extLst>
          </p:cNvPr>
          <p:cNvSpPr txBox="1"/>
          <p:nvPr/>
        </p:nvSpPr>
        <p:spPr>
          <a:xfrm>
            <a:off x="508000" y="1600200"/>
            <a:ext cx="11176000" cy="3185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창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「내성이 모두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」이며 곱하기가 아니라 덮어쓰기다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전 타입을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로 세팅한다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AD35BD-7E20-8F6B-A3DF-CE78EE010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371944"/>
              </p:ext>
            </p:extLst>
          </p:nvPr>
        </p:nvGraphicFramePr>
        <p:xfrm>
          <a:off x="508000" y="1981200"/>
          <a:ext cx="11176000" cy="104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320">
                  <a:extLst>
                    <a:ext uri="{9D8B030D-6E8A-4147-A177-3AD203B41FA5}">
                      <a16:colId xmlns:a16="http://schemas.microsoft.com/office/drawing/2014/main" val="3659994648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3004775853"/>
                    </a:ext>
                  </a:extLst>
                </a:gridCol>
                <a:gridCol w="3449320">
                  <a:extLst>
                    <a:ext uri="{9D8B030D-6E8A-4147-A177-3AD203B41FA5}">
                      <a16:colId xmlns:a16="http://schemas.microsoft.com/office/drawing/2014/main" val="1705319825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374228888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해석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원래 약점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(×2)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원래 저항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(×0.5)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최대 배율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354416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덮어쓰기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421959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곱하기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9162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0BA237-D561-C5D4-4D86-B8BD286C8159}"/>
              </a:ext>
            </a:extLst>
          </p:cNvPr>
          <p:cNvSpPr txBox="1"/>
          <p:nvPr/>
        </p:nvSpPr>
        <p:spPr>
          <a:xfrm>
            <a:off x="508000" y="3251200"/>
            <a:ext cx="11176000" cy="10487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덮어쓰기여야 하는 이유 둘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오늘 구간 배율을 폐지한 사유가 「내성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×2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와 곱해지면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배」인데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곱하기면 그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배가 그대로 재발한다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      ②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덮어쓰기는 저항 타입도 구제하므로 「불리한 무기로도 창이 열리면 정상 딜이 나온다」는 우회로 설계가 성립한다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지속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턴 고정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지속은 이 게임 최강 축이다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봉인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.121 → 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.675). 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턴으로 늘리면 시스템이 무너진다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최대치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보스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400 /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잡몹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100 /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플레이어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350.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최대치는 캐릭터 편향이 없는 다이얼이라 보스 창이 판당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1.00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으로 캐릭터 무관하게 맞는다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부위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단계와 축이 겹친다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둘 다 「무력화」다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같이 터지지 않게 볼 것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733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D04FE-A157-A307-7411-11F97F7B5E7A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두 내성이 만드는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2×2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가 이 시스템의 핵심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5C689-5ED7-1CD5-12C3-B9AA1AA0AF32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흐트러짐 내성은 체력 내성과 완전히 별개다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그래서 타입마다 네 성격이 생긴다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1456BBB-C98D-6DAD-5D11-6A43EA9A8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627465"/>
              </p:ext>
            </p:extLst>
          </p:nvPr>
        </p:nvGraphicFramePr>
        <p:xfrm>
          <a:off x="508000" y="1574800"/>
          <a:ext cx="11176000" cy="11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10">
                  <a:extLst>
                    <a:ext uri="{9D8B030D-6E8A-4147-A177-3AD203B41FA5}">
                      <a16:colId xmlns:a16="http://schemas.microsoft.com/office/drawing/2014/main" val="4022347485"/>
                    </a:ext>
                  </a:extLst>
                </a:gridCol>
                <a:gridCol w="5480050">
                  <a:extLst>
                    <a:ext uri="{9D8B030D-6E8A-4147-A177-3AD203B41FA5}">
                      <a16:colId xmlns:a16="http://schemas.microsoft.com/office/drawing/2014/main" val="832743526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3278106613"/>
                    </a:ext>
                  </a:extLst>
                </a:gridCol>
              </a:tblGrid>
              <a:tr h="389467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흐트러짐 잘 깎음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흐트러짐 못 깎음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099143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체력 잘 깎음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전천후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정공법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그냥 때린다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806139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체력 못 깎음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우회로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창을 열고 때린다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이 적에겐 쓰지 않는다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04514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7ED09ED-691D-E2EA-FA6C-68E8ED5FC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368690"/>
              </p:ext>
            </p:extLst>
          </p:nvPr>
        </p:nvGraphicFramePr>
        <p:xfrm>
          <a:off x="508000" y="2895600"/>
          <a:ext cx="111760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2274018049"/>
                    </a:ext>
                  </a:extLst>
                </a:gridCol>
                <a:gridCol w="2510790">
                  <a:extLst>
                    <a:ext uri="{9D8B030D-6E8A-4147-A177-3AD203B41FA5}">
                      <a16:colId xmlns:a16="http://schemas.microsoft.com/office/drawing/2014/main" val="2078027015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198915784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3486430912"/>
                    </a:ext>
                  </a:extLst>
                </a:gridCol>
                <a:gridCol w="1557020">
                  <a:extLst>
                    <a:ext uri="{9D8B030D-6E8A-4147-A177-3AD203B41FA5}">
                      <a16:colId xmlns:a16="http://schemas.microsoft.com/office/drawing/2014/main" val="667410737"/>
                    </a:ext>
                  </a:extLst>
                </a:gridCol>
                <a:gridCol w="1858010">
                  <a:extLst>
                    <a:ext uri="{9D8B030D-6E8A-4147-A177-3AD203B41FA5}">
                      <a16:colId xmlns:a16="http://schemas.microsoft.com/office/drawing/2014/main" val="409803133"/>
                    </a:ext>
                  </a:extLst>
                </a:gridCol>
              </a:tblGrid>
              <a:tr h="313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체력 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흐트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올라프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히후미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전투 길이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318798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 / 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.98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.56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4.5~5.8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77120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둘 다 못 깎음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0.5 / 0.5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.52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.05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0.4~0.95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6.4~6.7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022326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우회로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0.5 / 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.89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2.8~2.9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4.2~5.0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7411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정공법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 / 0.5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3.2~3.8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37044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전천후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 / 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3.2~3.8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937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CDA408-4794-535E-217D-1AB823F09F89}"/>
              </a:ext>
            </a:extLst>
          </p:cNvPr>
          <p:cNvSpPr txBox="1"/>
          <p:nvPr/>
        </p:nvSpPr>
        <p:spPr>
          <a:xfrm>
            <a:off x="508000" y="4953000"/>
            <a:ext cx="11176000" cy="4647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우회로가 실제로 작동한다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체력을 못 깎아도 흐트러짐을 잘 깎으면 창이 판당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2.9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회 열려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.52 → 1.00 / .05 → .89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로 살아난다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정공법과 전천후가 구별되지 않는다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체력 약점이면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3.2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턴에 끝나 창이 열리기 전에 적이 죽는다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그대로 두기로 확정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창은 「불리를 뒤집는 문」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9317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B20636-5C92-A344-6435-C31406B095E7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확정 수치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배율과 스테이지별 잡몹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4ECE0-F3EE-DEB8-1FF3-B98D8B8BEDFE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약점이 사라지는 곡선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스테이지가 오를수록 창이 유일한 증폭 수단이 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ABEAE8A-22BA-AC26-3901-606101044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660781"/>
              </p:ext>
            </p:extLst>
          </p:nvPr>
        </p:nvGraphicFramePr>
        <p:xfrm>
          <a:off x="508000" y="1574800"/>
          <a:ext cx="11176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270">
                  <a:extLst>
                    <a:ext uri="{9D8B030D-6E8A-4147-A177-3AD203B41FA5}">
                      <a16:colId xmlns:a16="http://schemas.microsoft.com/office/drawing/2014/main" val="3399356068"/>
                    </a:ext>
                  </a:extLst>
                </a:gridCol>
                <a:gridCol w="3552190">
                  <a:extLst>
                    <a:ext uri="{9D8B030D-6E8A-4147-A177-3AD203B41FA5}">
                      <a16:colId xmlns:a16="http://schemas.microsoft.com/office/drawing/2014/main" val="3609537541"/>
                    </a:ext>
                  </a:extLst>
                </a:gridCol>
                <a:gridCol w="2541270">
                  <a:extLst>
                    <a:ext uri="{9D8B030D-6E8A-4147-A177-3AD203B41FA5}">
                      <a16:colId xmlns:a16="http://schemas.microsoft.com/office/drawing/2014/main" val="2165726378"/>
                    </a:ext>
                  </a:extLst>
                </a:gridCol>
                <a:gridCol w="2541270">
                  <a:extLst>
                    <a:ext uri="{9D8B030D-6E8A-4147-A177-3AD203B41FA5}">
                      <a16:colId xmlns:a16="http://schemas.microsoft.com/office/drawing/2014/main" val="138698537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저항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약점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24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배율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×0.5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74314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D815974-03F7-72F6-65E1-EAA34BF52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28454"/>
              </p:ext>
            </p:extLst>
          </p:nvPr>
        </p:nvGraphicFramePr>
        <p:xfrm>
          <a:off x="508000" y="25400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060">
                  <a:extLst>
                    <a:ext uri="{9D8B030D-6E8A-4147-A177-3AD203B41FA5}">
                      <a16:colId xmlns:a16="http://schemas.microsoft.com/office/drawing/2014/main" val="4285696569"/>
                    </a:ext>
                  </a:extLst>
                </a:gridCol>
                <a:gridCol w="4197350">
                  <a:extLst>
                    <a:ext uri="{9D8B030D-6E8A-4147-A177-3AD203B41FA5}">
                      <a16:colId xmlns:a16="http://schemas.microsoft.com/office/drawing/2014/main" val="187223133"/>
                    </a:ext>
                  </a:extLst>
                </a:gridCol>
                <a:gridCol w="3926840">
                  <a:extLst>
                    <a:ext uri="{9D8B030D-6E8A-4147-A177-3AD203B41FA5}">
                      <a16:colId xmlns:a16="http://schemas.microsoft.com/office/drawing/2014/main" val="314233827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71483563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482662364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456402073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스테이지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균등 배분 시 실효 배율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(×2) 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이득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35371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약점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 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중립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1.33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1.5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53404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약점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 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중립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 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저항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1.17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0.50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1.7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7677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중립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 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저항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0.83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0.50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2.4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9904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51ED64-BE99-94E9-7596-629D2235454D}"/>
              </a:ext>
            </a:extLst>
          </p:cNvPr>
          <p:cNvSpPr txBox="1"/>
          <p:nvPr/>
        </p:nvSpPr>
        <p:spPr>
          <a:xfrm>
            <a:off x="508000" y="4089400"/>
            <a:ext cx="11176000" cy="8531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스테이지에는 저항이 없다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최악이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×1.0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이라 타입을 잘못 골라도 벌이 없는 학습 구간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스테이지에는 약점이 없다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상한이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×1.0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이라 「잘 골라서 이득」이 불가능하고 「못 골라서 손해」만 남는다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타입 선택이 리스크 회피 축으로 바뀐다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스테이지 간 기준선 편차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1.6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배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(1.33 → 0.83).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잡몹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보스 체력을 스테이지별로 잡을 때 이 배수를 전제로 계산할 것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▶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적 설계에 걸리는 결론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흐트러짐 내성은 「체력 저항 타입」에서만 의미가 있다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체력 약점 타입의 흐트러짐 내성은 아무 값이나 무방하다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03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2746ED-BA96-38AD-ED84-7FB05C9506C4}"/>
              </a:ext>
            </a:extLst>
          </p:cNvPr>
          <p:cNvSpPr txBox="1"/>
          <p:nvPr/>
        </p:nvSpPr>
        <p:spPr>
          <a:xfrm>
            <a:off x="762000" y="26670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3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6E388-2B58-CBC1-5C5E-CF3C51817F67}"/>
              </a:ext>
            </a:extLst>
          </p:cNvPr>
          <p:cNvSpPr txBox="1"/>
          <p:nvPr/>
        </p:nvSpPr>
        <p:spPr>
          <a:xfrm>
            <a:off x="762000" y="3124200"/>
            <a:ext cx="10668000" cy="606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감정 증강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635FB-3D8C-AEE6-0BC0-8F54EC78E2F9}"/>
              </a:ext>
            </a:extLst>
          </p:cNvPr>
          <p:cNvSpPr txBox="1"/>
          <p:nvPr/>
        </p:nvSpPr>
        <p:spPr>
          <a:xfrm>
            <a:off x="762000" y="3886200"/>
            <a:ext cx="10668000" cy="317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열광 레벨업 보상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전투 한정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전 캐릭터 공통</a:t>
            </a:r>
          </a:p>
        </p:txBody>
      </p:sp>
    </p:spTree>
    <p:extLst>
      <p:ext uri="{BB962C8B-B14F-4D97-AF65-F5344CB8AC3E}">
        <p14:creationId xmlns:p14="http://schemas.microsoft.com/office/powerpoint/2010/main" val="135159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BA29E5-9091-2603-AEF7-0557A3966B9F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감정 증강이란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8C75B-FD5A-BC3C-1669-09B58EF4121E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열광 레벨이 오를 때마다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중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로 고른다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그 전투 안에서만 유효하다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9D926-4116-85A6-ED10-3C105E0FA145}"/>
              </a:ext>
            </a:extLst>
          </p:cNvPr>
          <p:cNvSpPr txBox="1"/>
          <p:nvPr/>
        </p:nvSpPr>
        <p:spPr>
          <a:xfrm>
            <a:off x="508000" y="1600200"/>
            <a:ext cx="11176000" cy="229941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런 시작 전에 감정을 몇 개 골라 출발하고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열광 레벨업 때 고른 감정의 증강만 후보로 뜬다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전 캐릭터 공통 풀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얻은 증강은 그 전투가 끝나면 사라진다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7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감정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 9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장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(3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티어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 3) = 63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장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세계관 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시스템과 주제가 한 몸이다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지배자는 신과 같은 존재이고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자신을 믿게 하려고 일부러 증오와 파괴를 계속 일으킨다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인간이 손 쓸 수 없는 지경에 오면 신에게 빈다는 것을 알기 때문이다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그래서 감정이 「신을 믿는 데 쓰는 것」과 「신 없이 스스로 이겨나가는 것」으로 갈린다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이번 작은 앞쪽만 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뒤쪽은 후속작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플레이어가 전투 보상으로 받는 감정이 정확히 지배자가 인간에게 심으려는 감정이다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강해질수록 그가 설계한 대로 사는 것이 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4276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27E78F-CB24-FD70-D211-FCB4D92DA7C2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7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감정과 축 배분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04E37-B36B-5E0C-0A2F-143506CD3A36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감정마다 건드리는 자원이 다르다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이것이 감정 선택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빌드 선택이 되는 지점이다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1A872D5-41BE-FFF2-2CDE-5667F399F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71365"/>
              </p:ext>
            </p:extLst>
          </p:nvPr>
        </p:nvGraphicFramePr>
        <p:xfrm>
          <a:off x="508000" y="1574800"/>
          <a:ext cx="11176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94709242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925345007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3708088602"/>
                    </a:ext>
                  </a:extLst>
                </a:gridCol>
                <a:gridCol w="5062220">
                  <a:extLst>
                    <a:ext uri="{9D8B030D-6E8A-4147-A177-3AD203B41FA5}">
                      <a16:colId xmlns:a16="http://schemas.microsoft.com/office/drawing/2014/main" val="409004742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뿌리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증강 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76541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경외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위를 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나보다 큰 것 앞에서 나를 낮춤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힘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신속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견고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0245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신의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위를 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믿음을 지키는 것 자체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방어도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5852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동경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위를 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지금의 나보다 높은 곳을 향함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83752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감복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받았음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느껴서 굴복함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받고 낮추는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돈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아이템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증강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13484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연민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받았음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자비를 구하고 받는 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회복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체력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흐트러짐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98005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그리움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잃었음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돌아갈 수 없는 것을 향한 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쇠약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골절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무장해제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33694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초연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받아들임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더 이상 저항하지 않기로 한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최대체력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최대흐트러짐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내성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9292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9E7435-2EF3-F76E-5D52-FD18F6F35F7F}"/>
              </a:ext>
            </a:extLst>
          </p:cNvPr>
          <p:cNvSpPr txBox="1"/>
          <p:nvPr/>
        </p:nvSpPr>
        <p:spPr>
          <a:xfrm>
            <a:off x="508000" y="4267200"/>
            <a:ext cx="11176000" cy="65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일곱 개 전부 능동태가 없다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압도당하고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지키고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바라보고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받고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느끼고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잃고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받아들인다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세상을 바꾸는 감정이 하나도 없다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위세와 굴림 개수는 증강 축에서 제외했다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캐릭터마다 안 걸려서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동경만 예외적으로 위세를 전담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후속작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6 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각오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용기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희망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긍지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의연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해학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수동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7 /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능동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으로 정확히 갈린다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086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365ECD-04B6-FC3C-1004-E7D5F985FAE5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티어 문법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1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상시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/ 2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사건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/ 3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규칙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2121A-F40D-CA56-AAF3-54256779F989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티어는 세기가 아니라 「언제 걸리는가」로 갈린다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A928B0-2126-FB8B-31EE-EAF668688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22095"/>
              </p:ext>
            </p:extLst>
          </p:nvPr>
        </p:nvGraphicFramePr>
        <p:xfrm>
          <a:off x="508000" y="1574800"/>
          <a:ext cx="11176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093336514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298817087"/>
                    </a:ext>
                  </a:extLst>
                </a:gridCol>
                <a:gridCol w="6565900">
                  <a:extLst>
                    <a:ext uri="{9D8B030D-6E8A-4147-A177-3AD203B41FA5}">
                      <a16:colId xmlns:a16="http://schemas.microsoft.com/office/drawing/2014/main" val="138240488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16508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상시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무조건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조건 없이 늘 걸린다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때릴 때마다 위세 충전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+N /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방어도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+N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67068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사건에 걸린다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특정 순간에 발동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위세 발동 시 회복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N /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부위 파괴 시 즉시 풀충전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5584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규칙을 바꾼다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시스템 자체를 다시 쓴다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위세 최대 충전량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배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위세를 포기하고 힘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신속 영구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01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AB6E39-7391-9CF4-56DC-E8E74B5E49BE}"/>
              </a:ext>
            </a:extLst>
          </p:cNvPr>
          <p:cNvSpPr txBox="1"/>
          <p:nvPr/>
        </p:nvSpPr>
        <p:spPr>
          <a:xfrm>
            <a:off x="508000" y="3454400"/>
            <a:ext cx="11176000" cy="6594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열광 레벨 대응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레벨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레벨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레벨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티어가 뜬다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기준선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+2~3 / 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+4~6 / 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+6~9pp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대역으로 잡았다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등장 확률은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티어가 가장 높다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252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EB1D92-8152-4025-A76F-72937EC1ADB4}"/>
              </a:ext>
            </a:extLst>
          </p:cNvPr>
          <p:cNvSpPr txBox="1"/>
          <p:nvPr/>
        </p:nvSpPr>
        <p:spPr>
          <a:xfrm>
            <a:off x="508000" y="406400"/>
            <a:ext cx="11176000" cy="4639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⚠ 티어 감쇠 계수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밸런스 조정 보류 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6CB3A-370C-75A6-2CE1-E432C5519984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구현에는 영향 없다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다만 값이 아직 안 맞는다는 것을 알고 있어야 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4A4ABC-5EA5-2F2F-1ED2-7E6B4F9D8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260158"/>
              </p:ext>
            </p:extLst>
          </p:nvPr>
        </p:nvGraphicFramePr>
        <p:xfrm>
          <a:off x="508000" y="1574800"/>
          <a:ext cx="11176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>
                  <a:extLst>
                    <a:ext uri="{9D8B030D-6E8A-4147-A177-3AD203B41FA5}">
                      <a16:colId xmlns:a16="http://schemas.microsoft.com/office/drawing/2014/main" val="1785063635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05656087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837906025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2206521143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3427510508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효과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2441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지속형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보스전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0.69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0.34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2339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잡몹전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0.48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16383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즉시형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보스전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0.76~1.23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0.13~0.62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29459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잡몹전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0.16~0.41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≈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6375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1F08E2-D873-BBAC-60C5-3DB465919411}"/>
              </a:ext>
            </a:extLst>
          </p:cNvPr>
          <p:cNvSpPr txBox="1"/>
          <p:nvPr/>
        </p:nvSpPr>
        <p:spPr>
          <a:xfrm>
            <a:off x="508000" y="3454400"/>
            <a:ext cx="11176000" cy="10477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같은 효과라도 늦게 받을수록 남은 전투 시간이 짧아 값이 줄어든다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 계수는 그 노출 감쇠를 잰 것이다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지속형에만 걸린다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즉시형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부활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즉시 회복 등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은 곡선이 반대라 늦게 받는 것이 최적이다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잡몹전 레벨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도달률이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8.5~12.3%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보스전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48~79%).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런 전투의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70%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가 보스가 아닌데 거기서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 · 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티어가 안 걸린다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      →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감정 증강은 지금 사실상 보스전 전용 시스템이다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 조정은 콘텐츠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적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아이템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뒤로 미뤄둔 상태다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구현 측면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티어별 등장 확률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효과 값은 전부 데이터로 빼둘 것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확정이 아니다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709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AD81E-4BB4-4E1A-2D4C-CC2B785FDC83}"/>
              </a:ext>
            </a:extLst>
          </p:cNvPr>
          <p:cNvSpPr txBox="1"/>
          <p:nvPr/>
        </p:nvSpPr>
        <p:spPr>
          <a:xfrm>
            <a:off x="762000" y="26670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4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25E93-CCAA-2AE8-8CDC-3E7FDA4EF3E7}"/>
              </a:ext>
            </a:extLst>
          </p:cNvPr>
          <p:cNvSpPr txBox="1"/>
          <p:nvPr/>
        </p:nvSpPr>
        <p:spPr>
          <a:xfrm>
            <a:off x="762000" y="3124200"/>
            <a:ext cx="10668000" cy="606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아이템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F08FF-8ED0-60A8-86EF-7FD954B7612C}"/>
              </a:ext>
            </a:extLst>
          </p:cNvPr>
          <p:cNvSpPr txBox="1"/>
          <p:nvPr/>
        </p:nvSpPr>
        <p:spPr>
          <a:xfrm>
            <a:off x="762000" y="3886200"/>
            <a:ext cx="10668000" cy="3185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신설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2026-09-02 ·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경제 층 확정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/ ⚠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효과 값 미정</a:t>
            </a:r>
          </a:p>
        </p:txBody>
      </p:sp>
    </p:spTree>
    <p:extLst>
      <p:ext uri="{BB962C8B-B14F-4D97-AF65-F5344CB8AC3E}">
        <p14:creationId xmlns:p14="http://schemas.microsoft.com/office/powerpoint/2010/main" val="3183104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F85D1-7061-2304-2819-BE6E826D31B6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아이템 층 구조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6A8F5-1417-8FFC-5444-2A3006D26E7C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티어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단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직업 아이템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공용은 티어가 있고 직업은 티어가 없다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63342C1-33B4-9E1D-DAE3-FF606A854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94979"/>
              </p:ext>
            </p:extLst>
          </p:nvPr>
        </p:nvGraphicFramePr>
        <p:xfrm>
          <a:off x="508000" y="15748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70">
                  <a:extLst>
                    <a:ext uri="{9D8B030D-6E8A-4147-A177-3AD203B41FA5}">
                      <a16:colId xmlns:a16="http://schemas.microsoft.com/office/drawing/2014/main" val="147515710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2279207739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2202072612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2565819153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131130586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1497687741"/>
                    </a:ext>
                  </a:extLst>
                </a:gridCol>
                <a:gridCol w="3046730">
                  <a:extLst>
                    <a:ext uri="{9D8B030D-6E8A-4147-A177-3AD203B41FA5}">
                      <a16:colId xmlns:a16="http://schemas.microsoft.com/office/drawing/2014/main" val="227393985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43382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등장 확률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40%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25%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15%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8%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8%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8044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정가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골드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550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700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850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1,000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900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50082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공용 종류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캐릭터당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890F85-349B-43EA-ACE0-E874C7C3DC37}"/>
              </a:ext>
            </a:extLst>
          </p:cNvPr>
          <p:cNvSpPr txBox="1"/>
          <p:nvPr/>
        </p:nvSpPr>
        <p:spPr>
          <a:xfrm>
            <a:off x="508000" y="3098800"/>
            <a:ext cx="11176000" cy="124341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공용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종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직업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종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× 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캐릭터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직업 아이템에는 티어가 없다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고유 축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위력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증강이 위력에 관여하지 않기로 한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(07-18)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결과 아이템에 남은 자리다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단 이 축은 재산정 대상이다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위력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의 값이 캐릭터마다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+1.8pp(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히후미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 ~ +43pp(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백우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배 차이다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아이템이 위력만 주면 히후미에게만 아이템이 없는 것과 같아진다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효과 값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대역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은 미정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절대 스케일 재조정을 콘텐츠 뒤로 미뤄둔 상태라 값은 그때 정한다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가격으로 희소성을 표현하지 말 것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배증 가격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(300~4,800)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에서는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 구매가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런 중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회였다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4655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A6E6D-C96B-D473-4744-37C6A026D269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획득 경로와 런당 기대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F325A-F43A-DD43-636F-BD73731B22BE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경로마다 성격이 다르다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확률표는 경로 구조에 종속이다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791DCB1-B622-9AA2-F264-3EE8781C4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88205"/>
              </p:ext>
            </p:extLst>
          </p:nvPr>
        </p:nvGraphicFramePr>
        <p:xfrm>
          <a:off x="508000" y="15748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650">
                  <a:extLst>
                    <a:ext uri="{9D8B030D-6E8A-4147-A177-3AD203B41FA5}">
                      <a16:colId xmlns:a16="http://schemas.microsoft.com/office/drawing/2014/main" val="395047478"/>
                    </a:ext>
                  </a:extLst>
                </a:gridCol>
                <a:gridCol w="8769350">
                  <a:extLst>
                    <a:ext uri="{9D8B030D-6E8A-4147-A177-3AD203B41FA5}">
                      <a16:colId xmlns:a16="http://schemas.microsoft.com/office/drawing/2014/main" val="126084867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방식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95043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엘리트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무작위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개 지급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직업 아이템 포함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11491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 · 2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스테이지 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직업 아이템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종 중 택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0861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상점 매대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5~6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칸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골드로 구매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리롤 시 비용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1.5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배씩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72879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EFFAB04-4758-3BC7-28BA-8711891B3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96814"/>
              </p:ext>
            </p:extLst>
          </p:nvPr>
        </p:nvGraphicFramePr>
        <p:xfrm>
          <a:off x="508000" y="3098800"/>
          <a:ext cx="11176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0540">
                  <a:extLst>
                    <a:ext uri="{9D8B030D-6E8A-4147-A177-3AD203B41FA5}">
                      <a16:colId xmlns:a16="http://schemas.microsoft.com/office/drawing/2014/main" val="3484470254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4187498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3926249833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396052394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469807035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181317486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3003491334"/>
                    </a:ext>
                  </a:extLst>
                </a:gridCol>
                <a:gridCol w="902970">
                  <a:extLst>
                    <a:ext uri="{9D8B030D-6E8A-4147-A177-3AD203B41FA5}">
                      <a16:colId xmlns:a16="http://schemas.microsoft.com/office/drawing/2014/main" val="42769274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런당 획득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합계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9596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2.75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1.25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0.59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0.31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2.64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9.5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7014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08F309-2AA1-3E41-69C9-2FBF96250558}"/>
              </a:ext>
            </a:extLst>
          </p:cNvPr>
          <p:cNvSpPr txBox="1"/>
          <p:nvPr/>
        </p:nvSpPr>
        <p:spPr>
          <a:xfrm>
            <a:off x="508000" y="4013200"/>
            <a:ext cx="11176000" cy="8542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장 중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장 선택은 제시 확률을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2~3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배로 부풀린다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5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 제시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3.2%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가 획득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9.3%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로 잡히고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티어는 제시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50%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인데 획득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12.5%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      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장 매대에서 하위 티어는 구조적으로 안 집힌다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그래서 엘리트를 「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종 택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」에서 「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개 지급」으로 바꿨다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선택 필터가 사라지면 확률이 곧 획득 분포가 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전제로 잡은 표를 무작위 지급에 그대로 쓰면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티어가 런당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0.045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사실상 안 나온다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골드 기준값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n = 75 + 25 × 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스테이지 −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1). 09-03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에 절반으로 내렸다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구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150 + 50 ×).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비율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확률은 전부 불변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6810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D55728-C744-6E5D-6A06-6AA67BBEEEBE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상점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판매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중복 규칙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3C174-113A-D18B-F286-BF797ABAA6C8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선택에 대가를 붙이려면 노드를 쪼개야 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D65F2-69EF-96F3-B1A8-C0312F53CF0A}"/>
              </a:ext>
            </a:extLst>
          </p:cNvPr>
          <p:cNvSpPr txBox="1"/>
          <p:nvPr/>
        </p:nvSpPr>
        <p:spPr>
          <a:xfrm>
            <a:off x="508000" y="1600200"/>
            <a:ext cx="11176000" cy="32904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상점은 두 노드로 나눈다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골드 상점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7.5%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체력 상점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7.5%.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보스 직전 고정 상점만 플레이어가 고른다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한 상점 안에서 택일하게 하면 대가가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이 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늘 유리한 쪽을 누른다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두 노드로 나누니 체력상점 방문이 랜덤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1.72 →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노리면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6.05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(3.52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로 벌어지고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그 대가로 엘리트 방문이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9.69 → 5.67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회로 줄었다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이게 「고른다」가 실제로 작동하는 형태다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보유 한도 없음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판매 가능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정가의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33%.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⚠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판매가의 기준선은 골드 노드다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50%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면 개당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291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골드로 골드 노드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(2.5n = 250)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를 넘어 엘리트가 최고 골드 노드로 변한다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33%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192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골드로 그 아래다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판매는 이득 창구가 아니라 잉여 처분 창구다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순증 −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1.35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직업 아이템 중복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안 가진 것만 뜬다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판 것은 다시 안 뜬다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획득 이력 기준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10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종을 약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런에 다 보고 런당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2.64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개라 소진이 없어 폴백 조항은 필요 없다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1674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4474D9-6DD1-F0E8-38A9-FBF4BE634CF2}"/>
              </a:ext>
            </a:extLst>
          </p:cNvPr>
          <p:cNvSpPr txBox="1"/>
          <p:nvPr/>
        </p:nvSpPr>
        <p:spPr>
          <a:xfrm>
            <a:off x="762000" y="26670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5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C4AA0-33AC-EF70-145D-CB897D50DEA7}"/>
              </a:ext>
            </a:extLst>
          </p:cNvPr>
          <p:cNvSpPr txBox="1"/>
          <p:nvPr/>
        </p:nvSpPr>
        <p:spPr>
          <a:xfrm>
            <a:off x="762000" y="3124200"/>
            <a:ext cx="10668000" cy="606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스킬 강화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7A886-1667-18D5-744F-E615D59625EB}"/>
              </a:ext>
            </a:extLst>
          </p:cNvPr>
          <p:cNvSpPr txBox="1"/>
          <p:nvPr/>
        </p:nvSpPr>
        <p:spPr>
          <a:xfrm>
            <a:off x="762000" y="3886200"/>
            <a:ext cx="10668000" cy="317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확정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2026-09-03 ·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상한과 표기 기준</a:t>
            </a:r>
          </a:p>
        </p:txBody>
      </p:sp>
    </p:spTree>
    <p:extLst>
      <p:ext uri="{BB962C8B-B14F-4D97-AF65-F5344CB8AC3E}">
        <p14:creationId xmlns:p14="http://schemas.microsoft.com/office/powerpoint/2010/main" val="533418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77B36-1277-88A7-9D6E-7EF1ED5EAFB8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강화 구조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상한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회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문서 수치는 만렙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5DA92-D2F7-56B5-E051-5AB3D2B8638B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구현에서 가장 먼저 걸리는 것은 「지금 문서의 숫자가 몇 레벨인가」다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C7F0D-0CA8-8C54-EF7C-86EC4E718589}"/>
              </a:ext>
            </a:extLst>
          </p:cNvPr>
          <p:cNvSpPr txBox="1"/>
          <p:nvPr/>
        </p:nvSpPr>
        <p:spPr>
          <a:xfrm>
            <a:off x="508000" y="1600200"/>
            <a:ext cx="11176000" cy="27961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현재 문서의 모든 스킬 수치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「강화 풀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만렙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」 기준이다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기본 스킬은 여기서 깎아 만든다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→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구현 시 기본값을 문서 숫자로 넣으면 안 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문서 숫자가 강화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회를 마친 상태다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강화 상한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= 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상한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은 전 슬롯을 다 강화해도 예산의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35%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라 「당연히 다 한다」가 되어 선택이 없다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상한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는 전부 강화하면 예산을 넘겨 무엇을 포기할지 고르게 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로드아웃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칸 유지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평타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결투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도사림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위세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결투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칸을 검토했으나 되돌렸다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결투 시전이 턴당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1.6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회라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종으로 회전이 충분하다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⚠ 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회차 강화 비용 배율 미정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1.0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배면 예산의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71% / 1.5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88% / 2.0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106%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로 불가능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파라미터로 뺄 것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142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EB82F0-D544-E73B-C9A5-B53D69027E90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축별 강화 방향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무기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6BCB6-2FFC-E9D0-E201-B15640C48F17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스킬 종류마다 강화가 키우는 것이 다르다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이것이 정체성을 나눈다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6046CB9-6248-6D95-6F0A-AB3990772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53581"/>
              </p:ext>
            </p:extLst>
          </p:nvPr>
        </p:nvGraphicFramePr>
        <p:xfrm>
          <a:off x="508000" y="1574800"/>
          <a:ext cx="11176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730151320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801831585"/>
                    </a:ext>
                  </a:extLst>
                </a:gridCol>
                <a:gridCol w="10003790">
                  <a:extLst>
                    <a:ext uri="{9D8B030D-6E8A-4147-A177-3AD203B41FA5}">
                      <a16:colId xmlns:a16="http://schemas.microsoft.com/office/drawing/2014/main" val="397578518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기본 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강화가 키우는 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71804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평타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무조건 적용되는 잔효과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위력은 토큰 수준만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6667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도사림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100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그 도사림의 핵심 수치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방어량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버프값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자원 생산량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17927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결투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125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위력 범위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교환별 승리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패배 부가효과를 함께 소폭 상승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08969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150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피니셔 한 방의 규모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충전 속도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발동 임계는 안 건드린다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56295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EE0581-04BD-9048-89DC-540E78F3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639678"/>
              </p:ext>
            </p:extLst>
          </p:nvPr>
        </p:nvGraphicFramePr>
        <p:xfrm>
          <a:off x="508000" y="34544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930">
                  <a:extLst>
                    <a:ext uri="{9D8B030D-6E8A-4147-A177-3AD203B41FA5}">
                      <a16:colId xmlns:a16="http://schemas.microsoft.com/office/drawing/2014/main" val="4150330540"/>
                    </a:ext>
                  </a:extLst>
                </a:gridCol>
                <a:gridCol w="3713480">
                  <a:extLst>
                    <a:ext uri="{9D8B030D-6E8A-4147-A177-3AD203B41FA5}">
                      <a16:colId xmlns:a16="http://schemas.microsoft.com/office/drawing/2014/main" val="1564789251"/>
                    </a:ext>
                  </a:extLst>
                </a:gridCol>
                <a:gridCol w="2021840">
                  <a:extLst>
                    <a:ext uri="{9D8B030D-6E8A-4147-A177-3AD203B41FA5}">
                      <a16:colId xmlns:a16="http://schemas.microsoft.com/office/drawing/2014/main" val="3740125007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30761683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유진 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강화 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강화 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10262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백우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추가타 굴림당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위력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위력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34076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추가타 굴림당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위력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추가타 굴림당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0879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추가타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추가타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추가타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5998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3FC257-76A7-A0B3-A464-C522F8DB4FCC}"/>
              </a:ext>
            </a:extLst>
          </p:cNvPr>
          <p:cNvSpPr txBox="1"/>
          <p:nvPr/>
        </p:nvSpPr>
        <p:spPr>
          <a:xfrm>
            <a:off x="508000" y="4953000"/>
            <a:ext cx="11176000" cy="6594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변동성 축이 성장 곡선에도 반복된다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백우는 처음부터 완성형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위력만 자람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 /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적설은 반반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낙일은 강화 전엔 거의 안 나오고 끝에 터진다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결투는 교환 단위라 강화 한 칸의 무게가 크다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합당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회가 아니라 굴림 수만큼 곱해진다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굴림이면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flat +1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 합당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+3).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추가타는 「이기면 한 번 더 굴린다」이고 재굴림이 아니다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재굴림은 굴리기 전 행위라 「이기면 발동」이 성립하지 않는다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2996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C643D4-C8CB-AAC7-3172-9E0B26173BA9}"/>
              </a:ext>
            </a:extLst>
          </p:cNvPr>
          <p:cNvSpPr txBox="1"/>
          <p:nvPr/>
        </p:nvSpPr>
        <p:spPr>
          <a:xfrm>
            <a:off x="762000" y="26670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6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D4D62-DB84-5E41-479C-2AF066CCC88B}"/>
              </a:ext>
            </a:extLst>
          </p:cNvPr>
          <p:cNvSpPr txBox="1"/>
          <p:nvPr/>
        </p:nvSpPr>
        <p:spPr>
          <a:xfrm>
            <a:off x="762000" y="3124200"/>
            <a:ext cx="10668000" cy="606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스테이지 보스 </a:t>
            </a:r>
            <a:r>
              <a:rPr lang="en-US" altLang="ko-KR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수비 굴림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818BB-FB5B-89FC-83E9-C90DBB5CFCBA}"/>
              </a:ext>
            </a:extLst>
          </p:cNvPr>
          <p:cNvSpPr txBox="1"/>
          <p:nvPr/>
        </p:nvSpPr>
        <p:spPr>
          <a:xfrm>
            <a:off x="762000" y="3886200"/>
            <a:ext cx="10668000" cy="317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확정 </a:t>
            </a:r>
            <a:r>
              <a:rPr lang="en-US" altLang="ko-KR" sz="1400">
                <a:solidFill>
                  <a:srgbClr val="606060"/>
                </a:solidFill>
                <a:latin typeface="맑은 고딕" panose="020B0503020000020004" pitchFamily="50" charset="-127"/>
              </a:rPr>
              <a:t>2026-09-06 · </a:t>
            </a: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여기부터가 밸런싱 기준선</a:t>
            </a:r>
          </a:p>
        </p:txBody>
      </p:sp>
    </p:spTree>
    <p:extLst>
      <p:ext uri="{BB962C8B-B14F-4D97-AF65-F5344CB8AC3E}">
        <p14:creationId xmlns:p14="http://schemas.microsoft.com/office/powerpoint/2010/main" val="3102646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213F4-BC65-1330-0BD8-919074A228BE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수비 굴림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막았지만 뚫린 만큼만 받는다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87463-F73B-455E-5743-1DC43F3C5A2C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확정은 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2026-07-23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이었지만 시뮬에 없었다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이번에 구현하며 규칙을 다시 확인했다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5ADB585-F1AC-E980-C725-2740A4F2D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45690"/>
              </p:ext>
            </p:extLst>
          </p:nvPr>
        </p:nvGraphicFramePr>
        <p:xfrm>
          <a:off x="508000" y="1574800"/>
          <a:ext cx="11176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10">
                  <a:extLst>
                    <a:ext uri="{9D8B030D-6E8A-4147-A177-3AD203B41FA5}">
                      <a16:colId xmlns:a16="http://schemas.microsoft.com/office/drawing/2014/main" val="2447838604"/>
                    </a:ext>
                  </a:extLst>
                </a:gridCol>
                <a:gridCol w="9559290">
                  <a:extLst>
                    <a:ext uri="{9D8B030D-6E8A-4147-A177-3AD203B41FA5}">
                      <a16:colId xmlns:a16="http://schemas.microsoft.com/office/drawing/2014/main" val="893493829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8736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수비 굴림이 이김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상대 굴림 무효화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피해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 +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바를 민다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이긴 교환이므로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11729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수비 굴림이 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받는 피해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=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판정값 격차만큼만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상대 판정값 − 내 판정값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동률 재굴림이라 최소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89737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수비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vs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수비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아무 일 없음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양쪽 소모만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2978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일방 단계로 밀린 수비 굴림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소멸한다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막을 것이 없다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0506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10A84B-4369-3D90-67E2-E74EEB674AA5}"/>
              </a:ext>
            </a:extLst>
          </p:cNvPr>
          <p:cNvSpPr txBox="1"/>
          <p:nvPr/>
        </p:nvSpPr>
        <p:spPr>
          <a:xfrm>
            <a:off x="508000" y="3454400"/>
            <a:ext cx="11176000" cy="10487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판정은 다른 굴림과 완전히 동일하다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위력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굴림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보정 없음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대칭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50%.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수비에 공짜 우위를 주지 않는다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이긴 교환의 바 이동량은 히트와 같다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개정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2026-09-06).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구 「수비 승리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바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+5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」는 히트 푸시가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였을 때 값이고 같이 안 올린 누락이었다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잔효과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출혈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표식 등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는 「때린 교환」에만 붙는다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수비 승리는 아무것도 못 번다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히후미의 뼈도 마찬가지다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배열 순서가 실제로 값을 만든다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수비를 뒤에 두면 상대 굴림이 먼저 바닥났을 때 죽는 굴림이 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올라프 상대 실측 소멸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5.02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회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판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⏭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플레이어 쪽 수비 굴림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올라프 평타 「방패벽」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은 아직 시뮬 미구현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경외의 「견고」도 여기 묶여 있다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291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4421F-C4AF-8178-EFE3-48D9595177DC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스테이지 보스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스킬 확정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DD2A5-D170-B36F-0F1C-E235281E49A8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이제까지 적 수치는 임시값이었다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 보스가 플레이어 스킬을 재는 자가 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9B94B-1D10-E1F4-808F-9C742246935C}"/>
              </a:ext>
            </a:extLst>
          </p:cNvPr>
          <p:cNvSpPr txBox="1"/>
          <p:nvPr/>
        </p:nvSpPr>
        <p:spPr>
          <a:xfrm>
            <a:off x="508000" y="1600200"/>
            <a:ext cx="11176000" cy="13951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보통 자세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슬롯  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·  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조준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랜덤  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·  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부위 파괴 권한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보스 무조건 보유</a:t>
            </a:r>
          </a:p>
          <a:p>
            <a:pPr>
              <a:lnSpc>
                <a:spcPct val="115000"/>
              </a:lnSpc>
            </a:pPr>
            <a:endParaRPr lang="ko-KR" altLang="en-US" sz="15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A    3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굴림    수 공 공     위력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13    [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결투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]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      A    3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굴림    수 공 공     위력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13    [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결투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]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      B    2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굴림    공 공        위력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14    [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결투 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</a:rPr>
              <a:t>빛 소진 시 결투 플래그만 해제</a:t>
            </a:r>
            <a:r>
              <a:rPr lang="en-US" altLang="ko-KR" sz="1500">
                <a:solidFill>
                  <a:srgbClr val="000000"/>
                </a:solidFill>
                <a:latin typeface="맑은 고딕" panose="020B0503020000020004" pitchFamily="50" charset="-127"/>
              </a:rPr>
              <a:t>]</a:t>
            </a:r>
            <a:endParaRPr lang="ko-KR" altLang="en-US" sz="15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5A2A5A1-9F6B-5D25-3719-A0BC8052E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370086"/>
              </p:ext>
            </p:extLst>
          </p:nvPr>
        </p:nvGraphicFramePr>
        <p:xfrm>
          <a:off x="508000" y="3225800"/>
          <a:ext cx="11176000" cy="11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3995598969"/>
                    </a:ext>
                  </a:extLst>
                </a:gridCol>
                <a:gridCol w="6264910">
                  <a:extLst>
                    <a:ext uri="{9D8B030D-6E8A-4147-A177-3AD203B41FA5}">
                      <a16:colId xmlns:a16="http://schemas.microsoft.com/office/drawing/2014/main" val="1296099601"/>
                    </a:ext>
                  </a:extLst>
                </a:gridCol>
                <a:gridCol w="3782060">
                  <a:extLst>
                    <a:ext uri="{9D8B030D-6E8A-4147-A177-3AD203B41FA5}">
                      <a16:colId xmlns:a16="http://schemas.microsoft.com/office/drawing/2014/main" val="565513771"/>
                    </a:ext>
                  </a:extLst>
                </a:gridCol>
                <a:gridCol w="595630">
                  <a:extLst>
                    <a:ext uri="{9D8B030D-6E8A-4147-A177-3AD203B41FA5}">
                      <a16:colId xmlns:a16="http://schemas.microsoft.com/office/drawing/2014/main" val="2776032409"/>
                    </a:ext>
                  </a:extLst>
                </a:gridCol>
              </a:tblGrid>
              <a:tr h="389467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스테이지 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구 임시값 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l-GR" altLang="ko-KR" sz="1100" b="1">
                          <a:solidFill>
                            <a:srgbClr val="000000"/>
                          </a:solidFill>
                        </a:rPr>
                        <a:t>Δ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496706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히후미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0.7938  /  5.98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 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 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받은 피해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452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0.7954  /  5.13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 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  420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−0.2pp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007697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올라프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0.2634  /  6.33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 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 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받은 피해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476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0.6106  /  5.86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턴 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  382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−34.7pp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5968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8C20B7-2B05-FB07-CC1C-2F7E9B16E817}"/>
              </a:ext>
            </a:extLst>
          </p:cNvPr>
          <p:cNvSpPr txBox="1"/>
          <p:nvPr/>
        </p:nvSpPr>
        <p:spPr>
          <a:xfrm>
            <a:off x="508000" y="4597400"/>
            <a:ext cx="11176000" cy="8542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위력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곡선 정가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+ 2 (3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굴림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11+2 = 13 / 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굴림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12+2 = 14).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보스 프리미엄은 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+2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하나다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빛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2 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결투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이라 실제로는 매 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A · A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가 빛을 다 쓰고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B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는 평타로 나온다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B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의 결투 설정은 지금 걸리지 않는 값이다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빛이 늘면 살아난다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).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빛이 모자랄 때는 결투 플래그만 해제하고 굴림 구성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(2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굴림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위력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14)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은 유지할 것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구성까지 바꾸면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B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라는 스킬이 전투에 아예 안 나온다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캐릭터 격차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53pp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는 이 보스가 만든 것이 아니라 드러낸 것이다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위력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+2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가 올라프에 −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48pp,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히후미에 −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16pp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로 걸린다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3990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F8F06F-0FA0-E289-7776-169F4017023D}"/>
              </a:ext>
            </a:extLst>
          </p:cNvPr>
          <p:cNvSpPr txBox="1"/>
          <p:nvPr/>
        </p:nvSpPr>
        <p:spPr>
          <a:xfrm>
            <a:off x="508000" y="406400"/>
            <a:ext cx="11176000" cy="4639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⚠⚠ 적의 결투 슬롯 수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플레이어 결투 효과의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on / off</a:t>
            </a:r>
            <a:endParaRPr lang="ko-KR" altLang="en-US" sz="2300" b="1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B09CF-C352-E1A5-9E5D-D6168639BF21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이 덱에서 가장 중요한 한 장이다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적 설계 때마다 먼저 정해야 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D0DD1-1096-982A-B239-794F45EDE189}"/>
              </a:ext>
            </a:extLst>
          </p:cNvPr>
          <p:cNvSpPr txBox="1"/>
          <p:nvPr/>
        </p:nvSpPr>
        <p:spPr>
          <a:xfrm>
            <a:off x="508000" y="1600200"/>
            <a:ext cx="11176000" cy="7613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플레이어의 결투 효과는 전부 「결투 대 결투」 게이트 안에 있다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히후미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반격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뼈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만개  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/  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올라프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출혈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광기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폭발  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/  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유진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표식 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처형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적이 결투를 안 내면 그 카드들이 통째로 사문화된다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</a:rPr>
              <a:t>이건 그 적의 세기가 아니라 플레이어 쪽 카드 절반의 스위치다</a:t>
            </a:r>
            <a:r>
              <a:rPr lang="en-US" altLang="ko-KR" sz="13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068202C-6923-DA51-85EA-7DE96E8E9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492333"/>
              </p:ext>
            </p:extLst>
          </p:nvPr>
        </p:nvGraphicFramePr>
        <p:xfrm>
          <a:off x="508000" y="27432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510">
                  <a:extLst>
                    <a:ext uri="{9D8B030D-6E8A-4147-A177-3AD203B41FA5}">
                      <a16:colId xmlns:a16="http://schemas.microsoft.com/office/drawing/2014/main" val="2388360607"/>
                    </a:ext>
                  </a:extLst>
                </a:gridCol>
                <a:gridCol w="2371090">
                  <a:extLst>
                    <a:ext uri="{9D8B030D-6E8A-4147-A177-3AD203B41FA5}">
                      <a16:colId xmlns:a16="http://schemas.microsoft.com/office/drawing/2014/main" val="38334150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69686914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22212635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보스 슬롯 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 결투 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히후미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올라프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5854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A · B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둘 다 결투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7.9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0.794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0.263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9466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굴림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B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만 결투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2.7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0.047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0.025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75664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둘 다 평타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0.018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0.002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2606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A2A05F-97B5-55FB-9320-FEA218048AF3}"/>
              </a:ext>
            </a:extLst>
          </p:cNvPr>
          <p:cNvSpPr txBox="1"/>
          <p:nvPr/>
        </p:nvSpPr>
        <p:spPr>
          <a:xfrm>
            <a:off x="508000" y="4267200"/>
            <a:ext cx="11176000" cy="8531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⚠⚠⚠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이 붕괴는 승률만 봐서는 원인을 못 읽는다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히후미는 받은 피해가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+4%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밖에 안 늘었는데 승률만 −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75pp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였다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계량기를 열어야 보인다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만개 반격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0.80 → 0.00 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반격 굴림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10.2 → 2.9 ·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적 부위 파괴 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0.79 → 0.00.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보스가 세져서 진 게 아니라 플레이어 엔진이 멈춰서 졌다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•  ▶ </a:t>
            </a:r>
            <a:r>
              <a:rPr lang="ko-KR" altLang="en-US" sz="1100">
                <a:solidFill>
                  <a:srgbClr val="606060"/>
                </a:solidFill>
                <a:latin typeface="맑은 고딕" panose="020B0503020000020004" pitchFamily="50" charset="-127"/>
              </a:rPr>
              <a:t>결투를 거의 안 내는 적은 「결투가 안 통하는 적」이라는 의도된 콘텐츠일 때만 만들 것</a:t>
            </a:r>
            <a:r>
              <a:rPr lang="en-US" altLang="ko-KR" sz="11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449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BA9C9D-054E-BA1B-52C2-48A28C9F7409}"/>
              </a:ext>
            </a:extLst>
          </p:cNvPr>
          <p:cNvSpPr txBox="1"/>
          <p:nvPr/>
        </p:nvSpPr>
        <p:spPr>
          <a:xfrm>
            <a:off x="762000" y="2667000"/>
            <a:ext cx="10668000" cy="4137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>
                <a:solidFill>
                  <a:srgbClr val="606060"/>
                </a:solidFill>
                <a:latin typeface="맑은 고딕" panose="020B0503020000020004" pitchFamily="50" charset="-127"/>
              </a:rPr>
              <a:t>7 </a:t>
            </a:r>
            <a:r>
              <a:rPr lang="ko-KR" altLang="en-US" sz="2000">
                <a:solidFill>
                  <a:srgbClr val="606060"/>
                </a:solidFill>
                <a:latin typeface="맑은 고딕" panose="020B0503020000020004" pitchFamily="50" charset="-127"/>
              </a:rPr>
              <a:t>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A7429-3115-455D-F1A1-94A1CAD78C8B}"/>
              </a:ext>
            </a:extLst>
          </p:cNvPr>
          <p:cNvSpPr txBox="1"/>
          <p:nvPr/>
        </p:nvSpPr>
        <p:spPr>
          <a:xfrm>
            <a:off x="762000" y="3124200"/>
            <a:ext cx="10668000" cy="606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구현 주의 </a:t>
            </a:r>
            <a:r>
              <a:rPr lang="en-US" altLang="ko-KR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200" b="1">
                <a:solidFill>
                  <a:srgbClr val="000000"/>
                </a:solidFill>
                <a:latin typeface="맑은 고딕" panose="020B0503020000020004" pitchFamily="50" charset="-127"/>
              </a:rPr>
              <a:t>미정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599F5-777C-A253-35CE-DB140753EBF4}"/>
              </a:ext>
            </a:extLst>
          </p:cNvPr>
          <p:cNvSpPr txBox="1"/>
          <p:nvPr/>
        </p:nvSpPr>
        <p:spPr>
          <a:xfrm>
            <a:off x="762000" y="3886200"/>
            <a:ext cx="10668000" cy="317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606060"/>
                </a:solidFill>
                <a:latin typeface="맑은 고딕" panose="020B0503020000020004" pitchFamily="50" charset="-127"/>
              </a:rPr>
              <a:t>놓치면 조용히 틀리는 것들</a:t>
            </a:r>
          </a:p>
        </p:txBody>
      </p:sp>
    </p:spTree>
    <p:extLst>
      <p:ext uri="{BB962C8B-B14F-4D97-AF65-F5344CB8AC3E}">
        <p14:creationId xmlns:p14="http://schemas.microsoft.com/office/powerpoint/2010/main" val="2665799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92692-1233-DA1F-62C6-C9F920030B8D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구현 체크리스트 </a:t>
            </a:r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이번 덱 신규분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D92D5-D459-A327-95FA-BDA25E002C68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코드 리뷰 때 이 목록으로 훑으면 된다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43D1D5A-4A8F-9ED9-CCAE-90C7A9778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60849"/>
              </p:ext>
            </p:extLst>
          </p:nvPr>
        </p:nvGraphicFramePr>
        <p:xfrm>
          <a:off x="508000" y="1574800"/>
          <a:ext cx="111760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560833015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3503914065"/>
                    </a:ext>
                  </a:extLst>
                </a:gridCol>
                <a:gridCol w="8234681">
                  <a:extLst>
                    <a:ext uri="{9D8B030D-6E8A-4147-A177-3AD203B41FA5}">
                      <a16:colId xmlns:a16="http://schemas.microsoft.com/office/drawing/2014/main" val="4230373969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44299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바는 매 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으로 리셋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전투 내내 누적이 아니다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그 턴 최종 위치만 고조 칸으로 환산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95011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구간 데미지 배율은 없다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곱연산은 흐트러짐 창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내성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×2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덮어쓰기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하나뿐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05243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창은 곱하기가 아니라 덮어쓰기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 타입을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×2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로 세팅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곱하면 원래 약점이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×4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가 되어 폐지 사유가 재발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0778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타입은 굴림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캐릭터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스킬 단위가 아니다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유진만 무기가 정한다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7952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수비 굴림은 잔효과를 못 번다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출혈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표식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뼈 전부 「때린 교환」에만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699558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일방 단계의 수비 굴림은 소멸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막을 것이 없으므로 아무 일도 안 하고 사라진다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5815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스킬 수치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=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만렙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기본 스킬은 여기서 깎아 만든다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그대로 기본값으로 넣지 말 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95669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08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감정 증강은 전투 한정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전투가 끝나면 사라진다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런 지속 자원이 아니다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728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09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 결투 개수를 먼저 정할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플레이어 결투 효과 절반의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on/off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42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821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3599F-4EC8-356D-B632-CC027659C7AF}"/>
              </a:ext>
            </a:extLst>
          </p:cNvPr>
          <p:cNvSpPr txBox="1"/>
          <p:nvPr/>
        </p:nvSpPr>
        <p:spPr>
          <a:xfrm>
            <a:off x="508000" y="406400"/>
            <a:ext cx="11176000" cy="4639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⚠ 아직 정해지지 않은 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D19E2-2729-21BA-0DD3-36444231D9AF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임의로 채우지 말고 파라미터로 뺄 것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53792-A82F-DECD-EECC-422D41D011FF}"/>
              </a:ext>
            </a:extLst>
          </p:cNvPr>
          <p:cNvSpPr txBox="1"/>
          <p:nvPr/>
        </p:nvSpPr>
        <p:spPr>
          <a:xfrm>
            <a:off x="508000" y="1600200"/>
            <a:ext cx="11176000" cy="30426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타격 타입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내성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수치가 전부 미정이다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굴림별 타입 배정표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스킬마다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),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적 내성 두 벌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체력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흐트러짐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),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흐트러짐 굴림 환산량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확정된 것은 배율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×0.5 / ×1 / ×2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와 최대치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보스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400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잡몹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100 /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플레이어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350)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뿐이다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감정 증강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티어 대역 재조정이 보류 중이다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효과 값과 등장 확률을 데이터로 뺄 것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아이템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효과 대역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값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이 미정이다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고유 축 「위력」도 캐릭터 편차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 때문에 재산정 대상이다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스킬 강화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2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회차 비용 배율 미정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(1.5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배가 유력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평타 강화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종을 공통으로 할지 개별로 할지 미정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절대 스케일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체력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위력의 최종값은 콘텐츠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스킬 → 보스 → 아이템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를 채운 뒤에 잡기로 했다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지금 값으로 밸런스를 판단하지 말 것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플레이어 수비 굴림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경외 「견고」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시뮬 미구현이라 실측값이 없다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1922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440BB5-819C-BC66-08E7-FCBF34093402}"/>
              </a:ext>
            </a:extLst>
          </p:cNvPr>
          <p:cNvSpPr txBox="1"/>
          <p:nvPr/>
        </p:nvSpPr>
        <p:spPr>
          <a:xfrm>
            <a:off x="508000" y="406400"/>
            <a:ext cx="11176000" cy="4619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구현 순서 제안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2A65D-75FD-4565-8172-488BC3358EDD}"/>
              </a:ext>
            </a:extLst>
          </p:cNvPr>
          <p:cNvSpPr txBox="1"/>
          <p:nvPr/>
        </p:nvSpPr>
        <p:spPr>
          <a:xfrm>
            <a:off x="508000" y="1168400"/>
            <a:ext cx="11176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606060"/>
                </a:solidFill>
                <a:latin typeface="맑은 고딕" panose="020B0503020000020004" pitchFamily="50" charset="-127"/>
              </a:rPr>
              <a:t>앞 단계가 뒤 단계의 전제를 이미 만족하도록 쌓았다</a:t>
            </a:r>
            <a:r>
              <a:rPr lang="en-US" altLang="ko-KR" sz="1300">
                <a:solidFill>
                  <a:srgbClr val="606060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60606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A6464-B7F5-86AC-C683-08FC0DA96BBE}"/>
              </a:ext>
            </a:extLst>
          </p:cNvPr>
          <p:cNvSpPr txBox="1"/>
          <p:nvPr/>
        </p:nvSpPr>
        <p:spPr>
          <a:xfrm>
            <a:off x="508000" y="1600200"/>
            <a:ext cx="11176000" cy="30439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1.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기세 바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v5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교체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매 턴 리셋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고조 칸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열광 레벨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구간 배율 코드 제거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이것부터 서야 감정 증강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빛 경제가 전부 제자리를 잡는다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2.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흐트러짐 게이지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타격 타입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내성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게이지와 창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(1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턴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내성 덮어쓰기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×2)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까지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굴림별 타입은 데이터 테이블로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3.  1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스테이지 보스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수비 굴림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수비 굴림은 적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플레이어 양쪽에 같은 구조로 넣을 것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4.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감정 증강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열광 레벨업 훅에 붙는다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1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번이 서 있어야 붙일 자리가 생긴다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5. 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아이템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스킬 강화 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런 레벨 층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전투 코어와 독립이라 마지막이어도 된다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14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⚠ 2 · 4 · 5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는 값이 미정이므로 구조만 세우고 수치는 데이터로 뺄 것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000000"/>
                </a:solidFill>
                <a:latin typeface="맑은 고딕" panose="020B0503020000020004" pitchFamily="50" charset="-127"/>
              </a:rPr>
              <a:t>지금 넣는 숫자는 전부 임시값이다</a:t>
            </a:r>
            <a:r>
              <a:rPr lang="en-US" altLang="ko-KR" sz="14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674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4497</Words>
  <Application>Microsoft Office PowerPoint</Application>
  <PresentationFormat>와이드스크린</PresentationFormat>
  <Paragraphs>578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박준웅(학부생-소프트웨어전공)</dc:creator>
  <cp:lastModifiedBy>박준웅(학부생-소프트웨어전공)</cp:lastModifiedBy>
  <cp:revision>2</cp:revision>
  <dcterms:created xsi:type="dcterms:W3CDTF">2026-09-06T05:24:26Z</dcterms:created>
  <dcterms:modified xsi:type="dcterms:W3CDTF">2026-09-06T05:25:54Z</dcterms:modified>
</cp:coreProperties>
</file>