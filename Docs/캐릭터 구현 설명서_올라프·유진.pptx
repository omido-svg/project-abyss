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1EA0E-14BD-C3B2-D594-B8A218C7B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782431-4398-DC45-387A-6118632A6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A8ED0C-D393-A197-137B-ED5BA42A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B3377-73CB-135E-60F4-BC0BDB5E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943FD-BF6F-3357-C8F0-BD7E183E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3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706DA-690D-FBF3-935E-714BBA17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EF28E-3DEF-49AF-4E75-91BCBA105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FDFBB-95FC-DBF3-8530-FFC9EEB82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681C5-B955-AE36-41E6-CE44F4C1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1EE9D7-D98C-8E4D-AB56-93568EA6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44DBF-BB3B-BFAA-725E-9705BF80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1DD1C-119A-AEF9-AE55-EE1864224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7DEC59-335A-C293-9B61-74065606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99058-8317-78F1-7B2F-FE2AF9E0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17CD8-B73A-C04D-E0C0-D3E57589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46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B83F7-9569-514D-0E19-AA8C9B61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33E28-8805-562B-3130-5888CD8BA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67615F-0D2B-7EE9-BCA8-82A74F87C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8BC854-5AA7-A898-8E33-635518CF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810C2E-0F9D-B080-D467-24AB8E16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FF7730-577F-5154-6B34-27BB0E77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94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5FA9-30CD-B418-DBCC-C4921BA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EFCF3-9B75-E76C-0534-F84244816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28B8A9-4CC4-C365-8590-0C87E55B2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69A361-F447-CC7A-3E9C-F58CE6839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7FFCF8-765B-30B8-5E40-3AFA67835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0BD0B3-EDB2-45A0-B286-1442BD2D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217583-AC2D-A433-B7A1-AC467C68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1008D7-EB7E-1EC3-67D3-F5DBF0FF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91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72688-A574-AAC6-B690-7305F609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C43027-22CF-C0DA-61C3-BEFA26E1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7BF915-55C7-C210-396F-F72C0A57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BD614B-9F61-5B74-28A9-45BAC013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26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2A2E49-A1C1-9FD8-E192-CD37AD82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6DF310-B419-6FA6-09C2-1C2D503D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2041D5-45E1-EC3B-AD1B-1775151C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47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84466-2B61-DE31-7454-45AA6693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1239CD-8FD3-AAAB-B8A8-BA2AFE03E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22A166-2F38-B459-AF17-4E9BD1127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31707B-6F6C-AB6F-360F-A4AE8B15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94F658-07C5-EDCA-D816-9CA473E7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D75CA-B7C7-3B1C-5B94-8CD3A98D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36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EE8CC-720F-AD0E-0829-F13266FF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4F3377-A2BE-8D3B-B35E-59BA02AD5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DD33E1-120C-77FA-D906-0C9DBE30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DD1161-860B-29C6-633D-6A259A90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88E8EB-B31F-0437-413C-7B9BD1C5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438AC-A829-9B78-DC44-BFF76D47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02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589F9-CC20-5D4B-57F5-EBCCEDBC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E28A6A-6A35-C148-605E-93EF07355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B938-50CC-B1BE-E94B-3422627B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A8C92-3468-4390-0CD8-4DA61CC2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233251-CF87-B5CD-80EF-6C2C6A9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35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C54B57-277F-1F40-A677-130B604F0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F936A7-5103-F120-026B-012C4AF03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3096C-B455-E85A-4426-0B5DB4A1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746E6-1897-7AE9-B95D-41E1B49F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7BFB8-96CA-4B41-F785-8C54C416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2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2A51F4-0C5C-314E-AF71-176FC5F1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ABDB31-FD36-CF65-6F0F-94ACA57AA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10170B-1818-9D84-830F-8C37E30D2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56043-C372-457F-A997-E247BDD56A93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D04BB-497E-E42E-568F-E78C2237A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26F56-0155-6A35-56BF-42974A7F7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E456E-F6EF-4A02-AC47-67645A754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49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8DEDB1-A9B1-CD93-9190-24E2FC5E9B30}"/>
              </a:ext>
            </a:extLst>
          </p:cNvPr>
          <p:cNvSpPr/>
          <p:nvPr/>
        </p:nvSpPr>
        <p:spPr>
          <a:xfrm>
            <a:off x="762000" y="2133600"/>
            <a:ext cx="1219200" cy="762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5D844-0EDE-E3DD-81B5-20AE0B6237CA}"/>
              </a:ext>
            </a:extLst>
          </p:cNvPr>
          <p:cNvSpPr txBox="1"/>
          <p:nvPr/>
        </p:nvSpPr>
        <p:spPr>
          <a:xfrm>
            <a:off x="762000" y="2489200"/>
            <a:ext cx="1066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Project Abyss — </a:t>
            </a:r>
            <a:r>
              <a:rPr lang="ko-KR" altLang="en-US" sz="34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구현 설명서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77CED-0156-CC09-6125-B20E325483EF}"/>
              </a:ext>
            </a:extLst>
          </p:cNvPr>
          <p:cNvSpPr txBox="1"/>
          <p:nvPr/>
        </p:nvSpPr>
        <p:spPr>
          <a:xfrm>
            <a:off x="762000" y="3378200"/>
            <a:ext cx="1066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17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  </a:t>
            </a:r>
            <a:r>
              <a:rPr lang="en-US" altLang="ko-KR" sz="17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|   2026-08-02 </a:t>
            </a:r>
            <a:r>
              <a:rPr lang="ko-KR" altLang="en-US" sz="17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5742D-88C8-EF1E-3083-ACD14BFAED7C}"/>
              </a:ext>
            </a:extLst>
          </p:cNvPr>
          <p:cNvSpPr txBox="1"/>
          <p:nvPr/>
        </p:nvSpPr>
        <p:spPr>
          <a:xfrm>
            <a:off x="762000" y="5969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출처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Project-Abyss/Docs/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시스템 규칙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.md</a:t>
            </a:r>
            <a:endParaRPr lang="ko-KR" altLang="en-US" sz="11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52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30782-3367-DC76-7D70-0304B25B6BF8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문서를 읽는 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4BFF6C-8E19-1E6B-1A41-096DBCDF104A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A6DAC-38D4-EA0F-D281-582C2181DC61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구현에 필요한 확정 규칙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값이 왜 그 값인지의 근거를 함께 적었다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EA2E1-7F4F-105C-16BB-AE722C047BE6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미정 을 구분해 표기했다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표시는 아직 정해지지 않았거나 재검토 대상이라는 뜻이다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수치는 전부 정수다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화면에 소수가 나오지 않는다는 원칙이라 나눗셈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배율 결과는 버림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처리한다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방어력 같은 범용 스텟은 이 게임에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데미지는 스킬별 위력 범위 굴림으로만 정해진다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곱연산은 기세 바 구간 배율 하나뿐이다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외 모든 보정은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flat(+N)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본문에 인용된 실측치는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Excel VBA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몬테카를로 시뮬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(v1.22)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값이다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성장 요소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증강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뺀 베이스라인이므로 절대 승률로 밸런스를 판단하면 안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공통 규칙 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올라프 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유진 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구현 주의 순서다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캐릭터만 보면 안 되고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부가 선행이다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31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2A9B67-198B-B2F0-9496-5127C5947F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C7C14A-DCC9-4C34-6C65-569AD7580C59}"/>
              </a:ext>
            </a:extLst>
          </p:cNvPr>
          <p:cNvSpPr/>
          <p:nvPr/>
        </p:nvSpPr>
        <p:spPr>
          <a:xfrm>
            <a:off x="889000" y="2641600"/>
            <a:ext cx="1219200" cy="762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12E2E-62C6-E169-6A7E-30770D83572C}"/>
              </a:ext>
            </a:extLst>
          </p:cNvPr>
          <p:cNvSpPr txBox="1"/>
          <p:nvPr/>
        </p:nvSpPr>
        <p:spPr>
          <a:xfrm>
            <a:off x="889000" y="29972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전투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A2D48-80BD-0F93-8D59-F6C510F855BC}"/>
              </a:ext>
            </a:extLst>
          </p:cNvPr>
          <p:cNvSpPr txBox="1"/>
          <p:nvPr/>
        </p:nvSpPr>
        <p:spPr>
          <a:xfrm>
            <a:off x="889000" y="3810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이전에 이게 먼저 서야 한다</a:t>
            </a:r>
          </a:p>
        </p:txBody>
      </p:sp>
    </p:spTree>
    <p:extLst>
      <p:ext uri="{BB962C8B-B14F-4D97-AF65-F5344CB8AC3E}">
        <p14:creationId xmlns:p14="http://schemas.microsoft.com/office/powerpoint/2010/main" val="191332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0CFB9-6AF5-7A40-BABB-EF4D2F5CF04F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구조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E86E52-E265-287F-B3ED-D37EA1312CAE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D2B71-BB5B-A010-7233-D1330ECF1852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솔로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개가 곧 턴당 행동 슬롯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952F302-6696-740D-4819-7C5253132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876471"/>
              </p:ext>
            </p:extLst>
          </p:nvPr>
        </p:nvGraphicFramePr>
        <p:xfrm>
          <a:off x="508000" y="1600200"/>
          <a:ext cx="11176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603561634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964039827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150160283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 역할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882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왼팔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오른팔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전용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 또는 결투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합에 참여하는 순수 공격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4590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머리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겸용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유일한 겸용 슬롯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6715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다리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전용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합에 참여하지 않음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629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몸통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없음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부위로 두지 않음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피격 대상도 아님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104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E9640F-0E7F-11A8-CC1A-F771138EDC5F}"/>
              </a:ext>
            </a:extLst>
          </p:cNvPr>
          <p:cNvSpPr txBox="1"/>
          <p:nvPr/>
        </p:nvSpPr>
        <p:spPr>
          <a:xfrm>
            <a:off x="508000" y="3327400"/>
            <a:ext cx="11176000" cy="309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공격에 쓸 수 있는 슬롯은 최대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 페이싱 계산의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 슬롯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전제가 여기서 나온다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체력은 두 개의 풀이고 부위 피해는 양쪽을 동시에 깎는다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부위에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들어가면 그 부위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이면서 전체 체력도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흡수도 전환도 아니고 같은 피해를 두 곳에 기록한다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&gt;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체력의 합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부수며 가면 빠르고 체력만 밀면 그만큼 오래 걸린다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시스템을 쓸 이유가 수치로 강제된다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모델은 전체 체력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합이었는데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그러면 부수든 안 부수든 총 필요 피해량이 같아 부위 시스템이 페이싱에 아무 영향을 못 줬다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사망 조건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부위 파괴 또는 전체 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둘은 서로 대체 가능한 독립 경로다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일반 몹은 부위가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단일 체력이고 죽음의 저항도 적용되지 않아 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이면 즉사한다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체력 절대값 미정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확정된 건 플레이어 부위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180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 부위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144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잡몹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78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01F414-9FBB-1FA2-1A9B-9F8FEB2834F9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진행 순서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F98CCA-959D-6BB5-FF11-87A2CA20FA37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20A0F-7185-4478-9FB8-B422864D1ABB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턴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→ 도사림 → 속도순 합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B9825-A978-0B4B-D1CF-D6239435E1DA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1.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굴림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적의 모든 슬롯이 각자 굴린다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 턴 다시 굴린다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범위는 항상 플레이어에게 노출된다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범위와 같은 투명성 원칙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2.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계획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플레이어가 굴림 결과와 적의 예정 행동을 본 뒤 위세 사용 여부와 각 슬롯의 스킬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조준을 지정한다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예정 행동 노출은 그 턴만이다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3.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발동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속도와 무관하게 최우선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 합이 붙는 형태의 위세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예외로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단계에서 처리한다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4.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 처리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단계보다 먼저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속도와 무관하게 선제 처리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5.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속도순 합 처리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아군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슬롯을 한 풀에 섞어 속도 빠른 순으로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슬롯과 적 슬롯이 맞물리면 합이 발생한다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바는 슬롯이 처리될 때마다 실시간 갱신된다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빠른 슬롯으로 바를 깔고 뒷 슬롯으로 수확하는 턴 내 빌드업이 성립한다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단계가 하나 더 있다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「환형」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교체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슬롯 배치보다도 앞이다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전 스킬의 코인 수를 정하므로 배치 전에 확정돼야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363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9C17F-CF1F-0459-6093-B03C24AFEC38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소모전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2300" b="1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A0713A-9814-B5CF-4243-475E2841D659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BC103-79D8-A250-8D27-DD329A2FCC60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스킬마다 굴림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개씩 맞부딪혀 양쪽이 같이 소모된다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852D7-C93A-C146-2584-8D94E241333A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교환마다 양쪽 판정값을 비교해 높은 쪽이 그 교환을 이긴다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이기면 데미지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 쪽은 그 교환에서 승자의 순수 스킬 위력만큼 피격된다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보정은 데미지에 포함되지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한쪽 굴림이 먼저 바닥나면 남은 굴림은 전부 일방타격이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무저항 승리라 바는 밀지만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승수에는 포함되지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포함시키면 굴림이 많은 쪽이 다수결을 개수만으로 자동 구매하게 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맞부딪힌 교환 수의 다수결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동수면 합 무승부다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도중 부위 파괴나 처치가 일어나면 남은 굴림은 소멸한다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이게 있어야 소수 고위력 아키타입이 성립한다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먼저 부수면 후속타를 통째로 삭제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판정값이 정확히 동률이면 속도는 고정한 채 위력 굴림만 다시 굴린다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승부가 날 때까지 반복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개수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횟수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굴림 하나의 구성은 다른 층위다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히후미의 친치로는 주사위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개를 한 번에 굴리지만 그게 굴림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개분이다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승리는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맞았다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뜻하지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2:1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이겨도 진 교환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회분의 피해는 그대로 받는다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79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F02F9-5733-575B-E1AD-F87CA1A5667B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판정값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곡선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DAF532-7DE5-1AC2-2A5B-E77B00576C14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14834F-0814-B1B4-565B-AF656E6975B0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판정값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 위력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포함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보정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07757E9-E2B3-97C5-2A00-28E6D3AF9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61658"/>
              </p:ext>
            </p:extLst>
          </p:nvPr>
        </p:nvGraphicFramePr>
        <p:xfrm>
          <a:off x="508000" y="1600200"/>
          <a:ext cx="111760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529675029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74024213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98981656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908707085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42383501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314701134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굴림 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0069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곡선 위력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9713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DF754A-230A-9965-8831-D4D1B2D9CD19}"/>
              </a:ext>
            </a:extLst>
          </p:cNvPr>
          <p:cNvSpPr txBox="1"/>
          <p:nvPr/>
        </p:nvSpPr>
        <p:spPr>
          <a:xfrm>
            <a:off x="508000" y="2413000"/>
            <a:ext cx="11176000" cy="401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개수와 개별 위력은 반비례하고 곡선은 비선형이다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선형으로 하면 소수 고위력이 지배적이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flat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승률과 데미지에 이중으로 붙기 때문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굴림은 시그니처 전용이다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결투에는 쓰지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보정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빠른 쪽에만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 ×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속도차로 단면 가산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느린 쪽을 깎지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속도가 같으면 보정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속도는 턴 시작에 한 번만 굴린다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합의 모든 교환에 같은 보정이 적용된다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교환마다 다시 굴리는 건 위력 굴림뿐이다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굴림은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d6.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다리가 약화되면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 분리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데미지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히트 횟수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푸시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클라이맥스 빈도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길이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서로 안 겹치므로 한 축을 만질 때 다른 축으로 보정할 수 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폭은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기준이다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성격에 따라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±2~4).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평타는 곡선 정가를 그대로 쓰지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기준 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0/1/2 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곡선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11/12/14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사다리를 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5FABE-A86A-308A-F414-1E5F2CFC90C3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회피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층 심리전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4EF456-A64B-4655-E55A-7D71CEA43BC5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1841C-1859-729E-4B19-7679721E0F2B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효과는 결투 대 결투로 맞부딪힌 교환에서 이겼을 때만 발동한다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B7DDA0-B852-3A5A-1F5A-1023BF641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330773"/>
              </p:ext>
            </p:extLst>
          </p:nvPr>
        </p:nvGraphicFramePr>
        <p:xfrm>
          <a:off x="508000" y="16002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13675698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31117116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65813819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56980253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대응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 결투 효과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합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기세 바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776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결투로 받기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이기면 봉인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내 효과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지면 그대로 맞음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도박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교환당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1259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평타로 받기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봉인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정상 진행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낮아 지기 쉬움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교환당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42686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 받기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회피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봉인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없음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일방 피해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=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히트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회분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5831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81271A-7274-2A58-1A9B-446CDF2F17C1}"/>
              </a:ext>
            </a:extLst>
          </p:cNvPr>
          <p:cNvSpPr txBox="1"/>
          <p:nvPr/>
        </p:nvSpPr>
        <p:spPr>
          <a:xfrm>
            <a:off x="508000" y="3022600"/>
            <a:ext cx="11176000" cy="340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판정 단위는 합이 아니라 교환이다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잔효과와 같은 층에서 교환마다 즉시 정산하며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승리 효과뿐 아니라 패배 시 메리트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 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 같은 게이트 안이다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단위였을 때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무기는 짝수라 합 승리가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.196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그쳐 무기를 골랐을 뿐인데 효과 발동률이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2.6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 차이났다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단위로 내리면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패가 자동 상쇄돼 무승부 처리 자체가 필요 없다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평타의 존재 이유가 여기 있다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위력이 낮은 대신 상대 결투를 무력화하는 수비 카드다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회피는 효과만 막고 몸은 못 피한다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위력은 그대로 맞고 바도 밀린다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회피가 공짜면 양쪽이 서로 피해 교착이 생기기 때문이다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결투끼리 붙는다는 건 양쪽 다 내가 이긴다고 판단했다는 뜻이다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결투 패배 페널티를 따로 설계하지 않는다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상대 효과를 그대로 맞는 것이 이미 충분한 대가다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결투 시전이 턴당 약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1.6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회라 매칭이 절반 이하다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결투는 꾸준히 쌓는 스킬이 될 수 없고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적립은 평타가 전담한다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06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8BAE5-8381-22BB-BA67-AB3BACF01DDB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좌표계와 구간 배율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6BC4F9-CA90-C5EB-6C76-67237C0FE0DC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DCAC5-3115-BF14-B172-4483383B5936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−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100 ~ +100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줄다리기 한 축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진영 대 진영 공유라 적이 여럿이어도 바는 언제나 하나다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C28050-F383-13A0-C407-7052F54F8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20771"/>
              </p:ext>
            </p:extLst>
          </p:nvPr>
        </p:nvGraphicFramePr>
        <p:xfrm>
          <a:off x="508000" y="1600200"/>
          <a:ext cx="111760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650838175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75782488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80931172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구간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내 기준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B)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범위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내 공격 위력 배율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171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열세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짓눌림당함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 ≤ −30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0.5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버림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9826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균형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−30 &lt; B &lt; +30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3890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우세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+30 ≤ B &lt; +70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6145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짓누름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+70 ≤ B &lt; 100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257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최대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 = +100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2.5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버림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59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D2A9845-FCFC-8DFC-2969-76577E5F1285}"/>
              </a:ext>
            </a:extLst>
          </p:cNvPr>
          <p:cNvSpPr txBox="1"/>
          <p:nvPr/>
        </p:nvSpPr>
        <p:spPr>
          <a:xfrm>
            <a:off x="508000" y="3632200"/>
            <a:ext cx="11176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앞선 쪽 강화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아니라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밀리는 쪽 약화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고정값이며 선형 보간은 폐지됐다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이것이 이 게임의 유일한 곱연산이다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우세 구간은 전투를 늦춘다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양쪽 처리량 합이 균형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2.0(1+1) &gt;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1.5(1+0.5)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이기 때문이다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발악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B ≤ −70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이면 내 히트가 바를 미는 양이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배가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교환 승리는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+30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짓눌림은 클라이맥스 구간이다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파괴는 자동 판정이 아니라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×2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창에서 산술적으로 몰리는 결과다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개체별로 바를 쪼개면 안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발악과 위세는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상태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+50 / B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몹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상태에서 판정이 불가능해진다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3360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AD5E0F-58E9-6527-79FB-E9ABD85AB7FC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미는 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B21C9F-5AAA-B481-05AA-144C821878FD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CE2C5-7706-F33E-2124-37E8A85F2686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바는 때린 횟수로 움직인다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데미지량도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격차도 아니다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3F21-22EC-E101-DDA4-14B45B8539C8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이긴 교환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5.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 굴림 승리도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수비 굴림 승리도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없는 일방타격도 전부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예외 조항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대 결투 교환 승리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+15 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결투가 평타를 이기면 평타 판정이라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푸시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조용한 판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35% / 15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15% / 25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1%. 15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확정 클라이맥스 프로필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조용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15% ·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짓누름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53% ·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짓눌림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42%)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정확히 복원한다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교훈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판정 단위를 내리면 값을 올려야 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기댓값이 같아도 교환당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±10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패에서 상쇄돼 합 단위 한 방보다 분산이 작고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극단에 닿는 건 평균이 아니라 분산이 정한다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푸시는 상수가 아니라 턴당 히트 수에 종속된 값이다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굴림 수나 슬롯 수를 만지면 반드시 재측정할 것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방어도로 피해를 전부 흡수해도 히트는 히트다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바는 밀린다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 없음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 턴 바를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끌어당기는 장치는 폐지됐다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역전 장치는 발악이 대신 맡는다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이동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내가 이긴 교환 수 − 상대가 이긴 교환 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비슷하게 주고받으면 상쇄되고 우위를 점해야 밀린다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잔효과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때린 교환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에만 붙는다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수비 굴림 승리에는 안 붙는다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194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E02680-F4D3-E470-F991-16B4C7BD76A1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에너지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코스트 자원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E0C024-EDD2-592C-F676-A927909C1358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61595-5B47-78F0-C99D-34B0EF78EE78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누적형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 턴 전량 회복이 아니다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554345-6BBF-1371-A4E0-A2B8E5BC1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17106"/>
              </p:ext>
            </p:extLst>
          </p:nvPr>
        </p:nvGraphicFramePr>
        <p:xfrm>
          <a:off x="508000" y="1600200"/>
          <a:ext cx="11176000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393146799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20046846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값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6240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전투 시작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가득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6447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 시작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2519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상한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증강으로 증가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늘어나면 그 즉시 전량 회복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727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극단 진입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전량 회복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짓누르든 짓눌리든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플레이어 전용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246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 처치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 부위 약화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각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067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 파괴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+0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기각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이중 지급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65805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비용 티어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· 2 · 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3745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C7159A-C278-2AAD-77BA-053E6CCEE2F8}"/>
              </a:ext>
            </a:extLst>
          </p:cNvPr>
          <p:cNvSpPr txBox="1"/>
          <p:nvPr/>
        </p:nvSpPr>
        <p:spPr>
          <a:xfrm>
            <a:off x="508000" y="4241800"/>
            <a:ext cx="11176000" cy="218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강한 도사림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기본선이다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유료 평타는 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극단 진입 시 전량 회복은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 미느라 빛을 소진한 채 클라이맥스를 맞는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구멍을 메우는 장치다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적도 빛을 가진다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그러면 결투 대 결투 합이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회가 되어 결투 푸시와 심리전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층이 통째로 사문화된다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OFF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 승률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98%).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머리가 파괴되면 빛 최대치가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 → 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되어 비용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짜리 시그니처가 봉인된다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턴당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인데 공격 슬롯이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개라 유료 스킬은 사실상 턴당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유료 스킬의 비용이 같으면 우선순위가 낮은 쪽은 시전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회가 된다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비용이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갈려야 공존한다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6512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F7858-5FEA-A593-195B-AE9EA99D1F6D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죽음의 저항과 파괴 권한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25732C-EB2E-40BA-F701-6AEE43E5B537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3DDEA-975C-070C-F072-BC90738392A1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체력이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됐다고 곧바로 파괴되지 않는다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2D236-2816-6862-735B-4958CC487A1A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1.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풀 기능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2.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칩 데미지로 부위 체력이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닿으면 더 이상 깎이지 않고 멈춘다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죽음의 저항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슬롯은 여전히 쓸 수 있지만 디버프가 걸린다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주의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이중 차감 모델에서는 전체 체력이 줄어드는 양이 약화 전후로 똑같다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약화는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피해가 전체 체력으로 전환되는 시점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아니라 순수하게 디버프가 걸리는 시점이다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3.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오직 캐릭터 고유 파괴 루트로만 도달한다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권한이 있는 피해가 잔여 체력을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만들면 슬롯이 사라진다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약화는 선행 조건이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권한 보유 목록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파괴형 결투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 폭발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「낙일」의 크리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 위세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셋뿐이다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파괴되거나 봉인된 슬롯을 조준하면 합이 성립하지 않아 전 굴림이 일방타격이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부위 방치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두들겨 맞는 구멍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이라는 정비 동기가 인공 가중치 없이 창발한다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중 부위 회복은 원칙적으로 불가능하다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정비 노드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(150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골드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회복한다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예외는 올라프 광기 만개 상태의 적 처치뿐이다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엘리트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보스의 고유 파괴 기믹이 아직 미설계다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현재 시뮬에서는 플레이어 부위가 파괴되지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건이 정상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9505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5379EE-C162-8D4A-4668-24F05AEF695C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약화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디버프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B1D42-4966-B707-5CD5-D3A89E0DBD8A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92AAD-6489-A902-2A3A-65814828F7A3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잃는 종류가 셋 다 다르다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양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승률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선택지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C75794-4BEB-EB1A-EF0D-9D24B4468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68828"/>
              </p:ext>
            </p:extLst>
          </p:nvPr>
        </p:nvGraphicFramePr>
        <p:xfrm>
          <a:off x="508000" y="16002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629466993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3350304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8730216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약화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파괴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430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슬롯 굴림 −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최소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보장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 상실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0602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다리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속도 최댓값 −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(d6 → d5)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 상실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1572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머리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슬롯은 평타만 가능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 불가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 상실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빛 최대치 −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9697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0EB873-37F3-5521-4B0C-2AC3A25A6CCE}"/>
              </a:ext>
            </a:extLst>
          </p:cNvPr>
          <p:cNvSpPr txBox="1"/>
          <p:nvPr/>
        </p:nvSpPr>
        <p:spPr>
          <a:xfrm>
            <a:off x="508000" y="3022599"/>
            <a:ext cx="11176000" cy="340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조준제가 확정이라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어느 부위부터 무력화할까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실제 선택이 되려면 부위별로 축이 갈려야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균일 디버프는 그 선택을 무의미하게 만든다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무게 실측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보스전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4000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내가 짓눌린 판 증가폭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팔 부위 전체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+11.6pp /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 −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+12.4pp.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 단위는 슬롯이 아니라 부위다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팔은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보장은 예외 조항이 아니라 필연이다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 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불성립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파괴와 같은 상태이기 때문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부수 효과로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스킬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「낙일」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팔 약화에 면역이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디버프 설계 기준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양방향 실질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적에게 걸었을 때 내가 뭘 얻는지를 반드시 함께 볼 것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예정 행동을 못 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안은 적이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AI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 손해가 없어 기각됐다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 슬롯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허용되는 극단 상태다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 파괴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머리 약화가 겹치면 발생하며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그때도 공격 슬롯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개는 유지되고 잃는 건 방어도 획득처다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다리를 조준하면 무엇이 되는지 미정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다리는 도사림 전용이라 합이 성립하지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365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87C3F-9103-7D2F-8AB9-0E3F78671740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궁극기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FA022B-615C-F9A2-98D9-6D79444C28A7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91D6D-8896-7613-6BCC-4BCA8A96E76B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캐릭터마다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런 시작에 하나를 고르고 그게 이번 런의 플레이 스타일이 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3446D-2EA9-E12B-16E8-EE27E62329B4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충전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때렸든 맞았든 무관하고 일방타격도 교환으로 센다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여기에 합 시작분과 합 승리 보너스가 붙는다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도사림은 제외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합이 없으므로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따라서 한 합의 충전량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max(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굴림 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굴림 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충전량이 승패에 면역이라 역전 도구로 기능한다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설계는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이길 때만 충전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 역전 도구가 아니라 스노볼이었다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처치 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+5.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이건 잡몹전 전용 다이얼이다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보스전에서 처치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종료라 영향이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파괴 충전은 보류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승리 보너스는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다수결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매달린 유일한 효과다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효과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푸시가 전부 교환 단위로 내려간 뒤로 합 단위 판정이 남은 곳은 여기뿐이다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임계는 캐릭터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형별로 개별이다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 / 65 / 70,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 전부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올라프는 세 형의 무게 차이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셋업 가속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폭발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불사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커서 갈리고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유진은 세 형이 비슷한 무게로 설계돼 같다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이월 없음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전투마다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시작한다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 강화로 임계를 낮출 수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효과 규모만 강화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발동은 그 턴 최우선이다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 합이 붙는 형태의 위세는 장착 슬롯의 속도로 처리한다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위세는 자기 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다른 키워드 참조의 이중 구조로 설계한다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그래야 가교 스킬을 채용할 이유가 저절로 생긴다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400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0E5CB0-3357-EF21-AA4D-11B30AFEF9F8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9A2A6D-72CF-19C5-02DE-2515268E0188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C6576-CD75-E2B9-99E1-2C1E2DD05C2B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RNG =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균등 주사위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이것이 승률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50%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기준선을 만든다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208785-B998-19A1-3B32-3446D3D90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955682"/>
              </p:ext>
            </p:extLst>
          </p:nvPr>
        </p:nvGraphicFramePr>
        <p:xfrm>
          <a:off x="508000" y="16002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940669934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62526202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311559266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자세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공격 슬롯 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턴당 바 이동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플레이어 기준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12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−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886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9471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웅크림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6131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40AEC9-530D-BF2B-A37C-A9AC841A654E}"/>
              </a:ext>
            </a:extLst>
          </p:cNvPr>
          <p:cNvSpPr txBox="1"/>
          <p:nvPr/>
        </p:nvSpPr>
        <p:spPr>
          <a:xfrm>
            <a:off x="508000" y="3022599"/>
            <a:ext cx="11176000" cy="340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로테이션은 보통 → 웅크림 → 공세 → 보통이고 간격은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2~3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랜덤이다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웅크림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공세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상쇄돼 사이클 순이동은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웅크림은 텔레그래프이자 함정이다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다음이 공세라는 신호이면서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개뿐이라 이쪽 굴림이 남아돈다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공격 슬롯 상한은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부위가 전부 공격하면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30/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턴이라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만에 압사한다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일반 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없음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60. 3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마리가 기세 중립선이다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+15 /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 / 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마리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15) 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몹 수가 곧 난이도 다이얼이다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엘리트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비대칭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체력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144.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친치로를 적에게 주면 안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대실패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이득인 건 히후미의 뼈 엔진 때문이다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예정 행동 노출은 그 턴만이다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3931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6B2767-46CF-1255-F657-E1177F85D3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1E07B3-C4BD-0118-A8C8-227D974E791A}"/>
              </a:ext>
            </a:extLst>
          </p:cNvPr>
          <p:cNvSpPr/>
          <p:nvPr/>
        </p:nvSpPr>
        <p:spPr>
          <a:xfrm>
            <a:off x="889000" y="2641600"/>
            <a:ext cx="1219200" cy="762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AF0F0-562E-D8BF-654E-F52BE169A16E}"/>
              </a:ext>
            </a:extLst>
          </p:cNvPr>
          <p:cNvSpPr txBox="1"/>
          <p:nvPr/>
        </p:nvSpPr>
        <p:spPr>
          <a:xfrm>
            <a:off x="889000" y="29972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2A3F6-2511-8E42-555C-9E4E19BCAE76}"/>
              </a:ext>
            </a:extLst>
          </p:cNvPr>
          <p:cNvSpPr txBox="1"/>
          <p:nvPr/>
        </p:nvSpPr>
        <p:spPr>
          <a:xfrm>
            <a:off x="889000" y="3810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주사위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바를 우회하는 광전사</a:t>
            </a:r>
          </a:p>
        </p:txBody>
      </p:sp>
    </p:spTree>
    <p:extLst>
      <p:ext uri="{BB962C8B-B14F-4D97-AF65-F5344CB8AC3E}">
        <p14:creationId xmlns:p14="http://schemas.microsoft.com/office/powerpoint/2010/main" val="378907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DFFCB-5F37-AECD-2522-E2BEBA7D60F6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컨셉과 정체성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32D598-DDB1-7351-8228-54BE31C95B79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FED81-7329-5D90-7608-48B86C9315F6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부위가 하나씩 망가질수록 점점 강해지는 광전사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8AE9D-C692-4827-8C08-73FF2660EA08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RNG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주사위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균등하고 얌전하며 크리 개념이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 중 변동성 중간이다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&gt;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&gt;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바와의 관계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가속형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바를 특별히 세게 미는 수단이 없고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대신 출혈로 바와 무관하게 부위를 썩혀 터뜨린다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 중 바 방향에 가장 둔감하다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합에 져도 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스택으로 전환돼 이겨도 져도 이득이다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가속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눈덩이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바가 아니라 출혈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쪽에서 일어난다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부위가 터질수록 광기가 쌓이고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광기는 위력과 출혈 부여량을 키워 다음 파괴를 앞당긴다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 중 유일하게 위세가 피니셔가 아닌 캐릭터다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위세는 셋업 가속 엔진이고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딜 체감은 앞당겨진 결투 파괴가 가져간다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커스터마이징 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유진은 무기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히후미는 위세 슬롯 배치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셋이 서로 다른 자리를 하나씩 나눠 갖는다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.)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 파괴 루트 비대칭에서 올라프는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무거운 적립을 파괴형 결투로 폭발시킨다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확정적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계획형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874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CBE6E-3A7F-AB71-92F6-92F1FD0B6C9B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패시브 ①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0FECA-9F7E-3EBC-1998-99C040C6ED7F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EFB73-7744-38F2-8E3F-4A0DB881D0A8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올라프의 고유 파괴 루트이자 시그니처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도트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산술 폭발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199AE-94E4-5358-22A2-C0E700DC4E9C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적립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때린 교환당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때린 그 부위에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쌓인다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조준제와 맞물려 집중 조준이 곧 폭발 축적이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스택이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이상이면 교환당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 →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스택이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종료 시 부위별로 스택 수만큼 그 부위에 피해를 주고 스택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방치하면 잔잔히 갉다가 사라진다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썩힌다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타이머가 생긴다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빠지기 전에 터뜨려야 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자동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파괴형 결투가 결투 대 결투 교환에서 이기면 그 부위의 출혈 스택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10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피해가 터지고 스택을 전량 소비한다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피해가 잔여 체력을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만들면 부위 파괴다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 전량 소비라 실질 발동은 합당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첫 이긴 교환에 터지고 스택이 비므로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폭주하지 않는다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페이싱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승률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50% ×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합당 평균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 부위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미리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~50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까지 깎아둔 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바닥내는 게 기준이라 정공법으로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3~4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고정 임계는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100%'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임계식은 폐기됐고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이제 파괴는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깎아두고 폭발로 바닥낸다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산술이다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튜닝 워치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 속도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(−1/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vs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적립 속도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잡몹전 도트 기여분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590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20595-03AA-00C5-AD14-324C5CE21113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패시브 ②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8E99AB-0E5E-69A4-0E48-D60FFAB29169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11352-D739-D51A-E0E8-2FA0CB65ECBA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한번 쌓이면 되돌아가지 않는 상시 양날 자원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57DF8A3-CB8E-3B2F-D3D9-9A9F2F198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92823"/>
              </p:ext>
            </p:extLst>
          </p:nvPr>
        </p:nvGraphicFramePr>
        <p:xfrm>
          <a:off x="508000" y="1600200"/>
          <a:ext cx="11176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842157098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47999457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값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52938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상한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0473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적립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 파괴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자기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패배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강한 도사림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39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스택당 위력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받는 피해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전부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flat)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3828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(10)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받는 피해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부여량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배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 상태에서 적 처치 시 부위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개 회복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초기화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0127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54FE48-C374-7AB3-3C50-5DEF0D7ECCE6}"/>
              </a:ext>
            </a:extLst>
          </p:cNvPr>
          <p:cNvSpPr txBox="1"/>
          <p:nvPr/>
        </p:nvSpPr>
        <p:spPr>
          <a:xfrm>
            <a:off x="508000" y="3327399"/>
            <a:ext cx="11176000" cy="309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+N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위력 범위의 최소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최대를 동시에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flat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밀어 올리는 것이다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곱연산 배율이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스택당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+1/+1,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상시 위력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+5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 교환 승률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82%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파탄값이었다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10·5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당 구조라 램프가 보스전 전체에 걸쳐 차오르고 승률 영향은 최대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+2(~64%)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억제된다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중 광기를 되돌리는 장치는 만개 상태의 적 처치뿐이다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위세의 광기 초기화는 삭제됐다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쏠수록 가속이 꺼져 셋업 엔진 역할과 정면 충돌했기 때문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도달이 빨라지는 게 최대 튜닝 리스크다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강한 도사림으로 직접 벌 수 있어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3+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출혈이 교환당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되고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1.7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합에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스택에 닿는다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경유까지 겹치면 정공법이 통째로 무의미해질 수 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3870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851BA1-2289-7D22-5167-0EC5F0E030A9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A99150-4499-8EC5-13A2-DF5E49D51954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C65C1-F31C-0650-DBAA-97A6EE1E3469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 공통 규칙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때린 교환당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승패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상대 행동 무관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3+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스택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376AA04-8453-7EFA-FEF1-EB32636F9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900568"/>
              </p:ext>
            </p:extLst>
          </p:nvPr>
        </p:nvGraphicFramePr>
        <p:xfrm>
          <a:off x="508000" y="1600200"/>
          <a:ext cx="111760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7084262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0038841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38830806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50615442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5860491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8420268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스킬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분류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굴림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배열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빛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위력 범위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교환마다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진 교환마다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9221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버티며 베기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수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14~21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26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내려찍기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15~22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6579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마구잡이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11~24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617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표준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파괴형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17~24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폭발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첫 승리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 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flat +1  / 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01633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난도질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유틸형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13~22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flat +1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파괴 불가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  / 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7351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23E92F-40FE-0ED0-05E4-C0AAFC18B365}"/>
              </a:ext>
            </a:extLst>
          </p:cNvPr>
          <p:cNvSpPr txBox="1"/>
          <p:nvPr/>
        </p:nvSpPr>
        <p:spPr>
          <a:xfrm>
            <a:off x="508000" y="3632200"/>
            <a:ext cx="11176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효과는 승패 양쪽 다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대 결투로 맞부딪힌 교환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하나하나에 정산된다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단위가 아니다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합당 최대는 표준 출혈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+2 /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+2,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난도질 출혈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+3 /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+3.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패배 보상에도 같은 게이트를 걸어야 한다</a:t>
            </a:r>
            <a:r>
              <a:rPr lang="en-US" altLang="ko-KR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그러면 결투를 걸었다가 평타에게 져도 광기를 벌어</a:t>
            </a:r>
            <a:r>
              <a:rPr lang="en-US" altLang="ko-KR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결투를 아무 데나 던지는 게 이득이 된다</a:t>
            </a:r>
            <a:r>
              <a:rPr lang="en-US" altLang="ko-KR" sz="7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 합에서 출혈과 광기를 동시에 벌 수 있다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패면 둘 다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+1).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부작용이 아니라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이겨도 져도 이득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이라는 확정 정체성의 강화다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 기준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수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4,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 성격으로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±2~4.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굴림이 적을수록 한 굴림의 무게가 커서 폭을 좁혀야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약속된 한 방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된다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계획형 올라프의 색이고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도박 변동성은 유진 몫이다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내려찍기는 프리미엄 수비 카드다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결투를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35.6%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받아내며 효과를 봉인한다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최저값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라 바닥이 없다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파괴형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+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유틸형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올라프 전용 문법이다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유진은 결투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종이고 무기가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분기를 담당한다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개수와 축은 캐릭터마다 다르다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표준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터뜨리러 가는 결투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난도질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쌓으러 가는 결투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단위로 내려가면서 난도질의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농사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색이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flat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값이 아니라 굴림 수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(3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1.5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나오게 됐고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표준은 대신 폭발 권한을 갖는다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가속이 한 단계 빨라진다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난도질이 기대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1.5/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합이라 광기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합이면 닿고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3+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출혈이 교환당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된다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수용하기로 했고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v2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시뮬 후 재조정 예정이다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평타는 고정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종이 아니라 풀에서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개를 골라 장착하는 로드아웃이다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강화는 모델에 귀속되므로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강화한 평타를 버리고 갈아탈까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실제 결정이 된다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600"/>
              </a:spcBef>
            </a:pP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재검토 대상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파괴형이 곡선 정가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(14)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빛도 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더 싸다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부과효과가 있으면 그 대가로 위력을 깎는다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원칙이 숫자에 반영돼 있지 않다</a:t>
            </a:r>
            <a:r>
              <a:rPr lang="en-US" altLang="ko-KR" sz="8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5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275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3ED15-37C6-1A8A-186F-96F12820311F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236879-722C-AF9D-98C4-8907CBA551D4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66EB20-00C5-B13F-60C5-5CC3FDCB7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961750"/>
              </p:ext>
            </p:extLst>
          </p:nvPr>
        </p:nvGraphicFramePr>
        <p:xfrm>
          <a:off x="508000" y="11684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831785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01592232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4980377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3798252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형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임계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축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가교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80069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만개하는 상처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조준 부위에 출혈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 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당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만개면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+2) =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총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3~5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스택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172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터뜨리는 광기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획득 후 현재 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× 5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피해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부위 출혈 스택만큼 가산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 소비 없음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파괴 권한 없음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출혈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6005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배수진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한 턴 불사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 자기 부위는 파괴되지 않고 체력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밑으로 안 내려감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불사 턴 동안 맞은 교환당 광기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자해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광기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165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1042AB-233E-F4E0-C221-061681ED20DC}"/>
              </a:ext>
            </a:extLst>
          </p:cNvPr>
          <p:cNvSpPr txBox="1"/>
          <p:nvPr/>
        </p:nvSpPr>
        <p:spPr>
          <a:xfrm>
            <a:off x="508000" y="2804159"/>
            <a:ext cx="11176000" cy="3622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약한 도사림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웅크리기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방어도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+12 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0)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노려보기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턴 모든 합 판정값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 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노려보기가 무료였을 때 방어형보다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22pp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앞서 웅크리기가 사문화되고 있었다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올라프는 균등 굴림이라 판정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온전히 붙는다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빛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올렸다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강한 도사림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1) 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자기 부위 중 체력이 가장 낮은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개를 약화시키고 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+2.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여기에 적에게 공포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위력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N,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수치 미정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부여한다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자기 조절 장치가 공짜로 딸려온다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자기 다리를 태우면 속도 최댓값이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되어 합 승률이 떨어진다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태울수록 태우는 대가가 커진다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피니셔가 아니라 폭발 연료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30~50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즉시 주입이다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예약 최우선 발동이라 같은 턴 파괴형 결투와의 콤보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결투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승리 필요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읽기 도박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시그니처 무브다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대가는 선불이 아니라 후불이다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턴이 끝나면 약화 부위 투성이의 벼랑 끝 상태가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클라이맥스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발악 중첩 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카운터 카드다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출혈을 참조만 하고 소비하지 않는 게 안전선이다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태우면 파괴 루트 연료 충돌이 재발한다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28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EC57D-5482-C056-446F-7F2AA0BF61B3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12025-0281-285B-9AF5-62E890E1BE0F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4A426-8221-1519-E7F7-8AE153C03E67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평타로 적립 → 유틸형 결투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위세로 증폭 → 파괴형 결투로 자동 기폭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FD8D0-5E15-8542-9533-3609E19202F1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기폭 타이밍은 별도 프롬프트가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턴 슬롯에 뭘 꽂느냐로 이뤄진다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조준을 한 부위에 집중해야 폭발이 커진다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출혈이 부위 단위로 쌓이기 때문이다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감쇠가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1/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턴이라 무한정 못 쌓는다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빠지기 전에 터뜨려야 하고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언제 터뜨릴까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이 캐릭터의 유일한 능동 레버다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파괴형 결투는 상대도 그 슬롯에 결투를 걸어야 발동한다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결투 시전이 턴당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1.6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회이므로 읽기가 전제다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강한 도사림으로 광기를 벌되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다리를 태우면 승률이 떨어진다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어느 부위를 태울지가 선택이다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바에 안 기대는 캐릭터라 짓눌려도 손해가 덜하다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교환에 져도 그때마다 광기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들어온다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 슬롯의 실제 결정은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웅크리기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굴리기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vs 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노려보기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포기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균형은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출혈 엔진을 얹은 뒤 재측정한다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2687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001F98-5B9C-2FEE-24AC-9FD36112CE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C07E23-12E1-9DB6-5001-D3A9F2F34A1D}"/>
              </a:ext>
            </a:extLst>
          </p:cNvPr>
          <p:cNvSpPr/>
          <p:nvPr/>
        </p:nvSpPr>
        <p:spPr>
          <a:xfrm>
            <a:off x="889000" y="2641600"/>
            <a:ext cx="1219200" cy="762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F1ACC-AB0C-A4C0-AD2C-F5CF84711BF1}"/>
              </a:ext>
            </a:extLst>
          </p:cNvPr>
          <p:cNvSpPr txBox="1"/>
          <p:nvPr/>
        </p:nvSpPr>
        <p:spPr>
          <a:xfrm>
            <a:off x="889000" y="29972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0211E-C299-F248-2A36-D0D61368D2C3}"/>
              </a:ext>
            </a:extLst>
          </p:cNvPr>
          <p:cNvSpPr txBox="1"/>
          <p:nvPr/>
        </p:nvSpPr>
        <p:spPr>
          <a:xfrm>
            <a:off x="889000" y="3810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 </a:t>
            </a:r>
            <a:r>
              <a:rPr lang="en-US" altLang="ko-KR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기회를 엿보는 암살자</a:t>
            </a:r>
          </a:p>
        </p:txBody>
      </p:sp>
    </p:spTree>
    <p:extLst>
      <p:ext uri="{BB962C8B-B14F-4D97-AF65-F5344CB8AC3E}">
        <p14:creationId xmlns:p14="http://schemas.microsoft.com/office/powerpoint/2010/main" val="3242668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4CA0F-FB00-3598-71AB-9956C18680AF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컨셉과 정체성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22D3B2-A19B-B313-077E-FA28FBC33737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14E2-BF1D-C069-340F-576F9FD94EEC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상황에 맞는 무기를 골라 싸우고 기회를 엿보는 암살자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0165B-25EB-61F1-9DB0-C341CA64EEE2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RNG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값이 둘뿐이고 중간이 없다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크리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또는 뒷면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 중 변동성 최대다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유진만 기본위력이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고정이고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수 곡선은 앞면에만 적용된다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 판정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크리값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곡선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뒷면 판정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14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비용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축이 완전히 분리돼 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기본위력이 곡선을 타면 뒷면까지 같이 밀려 올라가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유진의 비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-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최대값은 형편없어야 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원칙이 코인 수에 따라 깨졌다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고정하니 교환 승률이 코인 수와 무관한 상수가 됐다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유진만 교환 승률이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50%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(.35~.43).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이건 버그가 아니라 의도이며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키트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재굴림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선택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그걸 푸는 도구다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바와의 관계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지름길형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바를 끝까지 밀지 않고 크리로 약화 부위를 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서술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우세까지는 바를 깔아야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폐기됐다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바는 처형 성립 조건이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커스터마이징 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도사림은 축이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 어휘 계열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조선 관아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사법 용어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뒷조사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의뢰 대상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밑작업 착수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확실한 일처리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유연한 대처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선금 받기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종의 축이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죽이는 목적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사실상 세 가지 형벌이라 어휘가 규칙을 설명한다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2675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6235A-268E-4EF6-49AB-0C2CBD8ECF52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가장 중요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2300" b="1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94054E-9684-3FFD-8595-A840135D0716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78474-C30B-EE48-6103-29B9EFDCCC51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전 스킬의 코인 수를 정한다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스킬은 부과효과만 소유한다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1732F8B-2272-2884-E8D4-D5E8DE6BE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045337"/>
              </p:ext>
            </p:extLst>
          </p:nvPr>
        </p:nvGraphicFramePr>
        <p:xfrm>
          <a:off x="508000" y="16002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78261419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39015293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67208611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998172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0106188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236952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1833519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무기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물건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코인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앞면 확률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크리값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처형 권한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승리 경로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백우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白雨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소음기 쌍권총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서양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40%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없음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전체 체력으로 밀어 넘김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29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積雪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쌍편곤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조선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30%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있음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봉인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봉인해 반격을 지우고 무저항으로 밂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474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낙일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落日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오오타치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일본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25%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19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있음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처형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부위를 부수며 끊음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3878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8C36CB-02ED-74E4-AFE6-98536F956C23}"/>
              </a:ext>
            </a:extLst>
          </p:cNvPr>
          <p:cNvSpPr txBox="1"/>
          <p:nvPr/>
        </p:nvSpPr>
        <p:spPr>
          <a:xfrm>
            <a:off x="508000" y="3022599"/>
            <a:ext cx="11176000" cy="340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크리값은 자유 변수가 아니라 앞면 확률에서 유도된다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크리값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(6.5 − 3(1−p)) / p.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평균을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6.5(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균등 평균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맞추는 식이다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⚠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평균 중립은 실효 중립이 아니다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앞면이 항상 이기므로 위력이 앞면에 몰릴수록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지는 교환에 버려지는 위력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늘어난다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출발점을 맞추는 도구지 밸런스 보증이 아니다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적설은 두 슬롯을 동시에 때린다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데미지는 반씩 나눠 각각 버림 분배되지만 표식은 안 나뉜다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화력이 아니라 표식 속도로 이기는 무기다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낙일은 합 승리 시 상대의 남은 굴림을 전부 삭제한다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전용이다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코인만 합 승리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승리라 발동률이 곧 승률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백우는 처형 권한이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밸런스 사정이 아니라 도구가 달라서다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총은 구멍을 낼 뿐 뼈를 못 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실측 승률 대역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.79~.82 (v1.19).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셋의 이기는 길이 실제로 다르다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전멸 승이 백우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0%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50.3%,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길이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8.4 / 10.4 / 12.1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434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52083-5E84-AD04-23AC-76A3847FE159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자원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패시브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「환형」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AB6933-4949-C326-5C1C-8F3A4B558F26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8EEB1E-0D69-214A-CC55-921F2B447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150957"/>
              </p:ext>
            </p:extLst>
          </p:nvPr>
        </p:nvGraphicFramePr>
        <p:xfrm>
          <a:off x="508000" y="1168400"/>
          <a:ext cx="111760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2936576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969428117"/>
                    </a:ext>
                  </a:extLst>
                </a:gridCol>
                <a:gridCol w="7747000">
                  <a:extLst>
                    <a:ext uri="{9D8B030D-6E8A-4147-A177-3AD203B41FA5}">
                      <a16:colId xmlns:a16="http://schemas.microsoft.com/office/drawing/2014/main" val="38407363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정의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6096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자원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살수의 감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재굴림 스택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 배치 단계에서 그 슬롯이 「살수의 감」을 쓸지 지정하고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이후 그 슬롯의 지는 교환은 스택이 남는 한 자동으로 다시 굴린다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결과는 그대로 확정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되돌리기 없음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5887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패시브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유비무환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매 턴 「살수의 감」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획득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상한 없음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735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전용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UI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환형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무기 교체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빛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슬롯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패시브 칸 안 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턴당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턴의 맨 처음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807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5D6AC2-E557-FFC4-FB6B-BAB3883E3D5B}"/>
              </a:ext>
            </a:extLst>
          </p:cNvPr>
          <p:cNvSpPr txBox="1"/>
          <p:nvPr/>
        </p:nvSpPr>
        <p:spPr>
          <a:xfrm>
            <a:off x="508000" y="2697479"/>
            <a:ext cx="11176000" cy="37287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 충전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부위 파괴 또는 적 처치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자가 부위 파괴는 제외한다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자해 셋업 무한 충전 차단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 핵심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처리 중 플레이어 프롬프트가 없다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슬롯에 스킬을 배치할 때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슬롯은 「살수의 감」을 쓴다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쓴다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지정하고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이후 그 슬롯의 지는 교환은 스택이 남는 한 자동으로 다시 굴린다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프롬프트 방식이면 판당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9~12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 뜬다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실측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결정을 이미 있는 조준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계획 단계로 올려 인터럽트를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만들되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어느 슬롯에 붙일지가 실제 승률을 움직이므로 선택은 살아 있다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슬롯에 몰면 백우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+4.6pp /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+7.9pp.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「잔혹한 마무리」도 상한까지 자동이다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대신 잔혹한 마무리 슬롯의 「살수의 감」 토글을 끄면 스택이 추가타로만 흘러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'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뒤집기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vs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더 때리기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선택이 배치 단계로 올라간다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대상은 위력 굴림만이다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굴림은 재굴림 불가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되면 합 승패를 직접 조작하게 된다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전투 종료 시 초기화된다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잡몹전에서 쌓아뒀다 보스전에 몰아쓰는 남용이 이걸로 막힌다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「유비무환」은 「낙일」의 생존 조건이다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「살수의 감」을 아예 안 붙이면 낙일 승률이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.733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.326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무너진다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−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19pp /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−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38pp /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 −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41pp).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재굴림은 뒷면일 때만 값어치가 있는데 뒷면 확률이 저코인일수록 높다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75% /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70% /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60%).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 낙일이 이걸 필요로 하는 곳은 결투가 아니라 평타 층이다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판당 결투 교환이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6.0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회뿐이라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12.6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절반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결투에만 몰아주면 오히려 −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1pp</a:t>
            </a:r>
            <a:r>
              <a:rPr lang="ko-KR" altLang="en-US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95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「환형」이 슬롯 배치보다 앞인 이유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코인 수를 정하므로 배치를 먼저 하면 그 배치의 수치가 통째로 달라진다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→ 스킬셋 확인 → 배치 순서라야 플레이어가 보고 정할 수 있다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남용은 굴림 경제가 알아서 막는다 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(9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→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(3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전환 턴은 그 자체로 −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19.6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700"/>
              </a:spcBef>
            </a:pP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표식은 무기를 바꾸어도 그대로 유지된다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44 </a:t>
            </a:r>
            <a:r>
              <a:rPr lang="ko-KR" altLang="en-US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직전까지 쌓아둔 뒤 갈아타 원하는 발화를 고르는 플레이도 허용한다</a:t>
            </a:r>
            <a:r>
              <a:rPr lang="en-US" altLang="ko-KR" sz="115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5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0476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C7595-3F55-0D0F-E6E3-6370BF6BBDB8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3C5367-43C3-8C24-B0CC-F2EF8DC9E140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C2CE5-F2AE-2DE2-8068-746FD7B733FC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부여는 공통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발화는 무기별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전용 키워드다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7D29EBC-4F18-8EAA-2479-B42382E91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846688"/>
              </p:ext>
            </p:extLst>
          </p:nvPr>
        </p:nvGraphicFramePr>
        <p:xfrm>
          <a:off x="508000" y="1600200"/>
          <a:ext cx="1117600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308629009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137599396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값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2201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교환마다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캡 없음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부여량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= 10 − 2 ×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코인 수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백우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 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낙일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4443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상한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44 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도달 시 표식을 소비하고 발화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6782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발화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백우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기세 바를 크게 민다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(+10)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2623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발화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적설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부위 슬롯을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턴 봉인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3287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발화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낙일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부위를 즉시 약화 상태로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5033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지속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누적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전투 내내 유지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대상 수 제한 없음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무기를 바꿔도 유지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704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9BA3F7-D829-072B-3FD8-6719876BBE6C}"/>
              </a:ext>
            </a:extLst>
          </p:cNvPr>
          <p:cNvSpPr txBox="1"/>
          <p:nvPr/>
        </p:nvSpPr>
        <p:spPr>
          <a:xfrm>
            <a:off x="508000" y="3937000"/>
            <a:ext cx="11176000" cy="2489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「의뢰 대상」은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배로 부여한다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(8 / 12 / 16).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적립은 평타가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발화 앞당기기는 결투가 맡는 분업이다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상한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44):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 안은 상한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 /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부여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이었는데 해상도가 굵어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이면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+2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면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턴으로 뚝뚝 끊겨 무기별 조준이 불가능했다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44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열고 조절을 부여량으로 옮기니 해상도가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배가 됐다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근거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발화가 무기별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):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무기의 구조적 손해를 갚는 자리에 배치했다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백우는 짓누름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37%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바를 못 밀고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낙일은 짓눌림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65%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병목이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약화까지 못 깎는 것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이었다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봉인은 파괴가 아니다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체력이 안 변하고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정비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(150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골드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경제 밖이며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사망 조건에도 안 들어간다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파괴 권한 목록이 안 흔들린다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봉인의 마무리는 기존 규칙에서 저절로 나온다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봉인된 슬롯을 조준하면 합이 성립하지 않아 전 굴림이 일방타격이 된다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마무리 수단을 만들 필요가 없었다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캡이 없으므로 슬롯 셋을 한 부위에 몰면 그만큼 빨리 차고 흩뿌리면 각각 느리다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조준제가 표식 층에서도 실제 선택이 된다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첫 발화 실측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2.10 / 2.60 / 3.47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낙일이 가장 느린 건 의도다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1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코인이라 슬롯당 교환이 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회뿐이다</a:t>
            </a:r>
            <a:r>
              <a:rPr lang="en-US" altLang="ko-KR" sz="12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996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2BCF62-268D-1BB6-D7F1-5006B947ED73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D0A93A-8BEC-1BA1-85E9-E404E0B2BFBB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D1106-AD94-8F43-2CF8-6150206724D1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 판정은 무기별로 셋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뒷면은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 +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비용의 사다리를 탄다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5B7106C-16CA-3FCE-6DED-D6CBEE085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992071"/>
              </p:ext>
            </p:extLst>
          </p:nvPr>
        </p:nvGraphicFramePr>
        <p:xfrm>
          <a:off x="508000" y="1600200"/>
          <a:ext cx="11176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78562178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150354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647410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534927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71289374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6088528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스킬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분류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빛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앞면 판정 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백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낙</a:t>
                      </a:r>
                      <a:r>
                        <a:rPr lang="en-US" altLang="ko-KR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  <a:endParaRPr lang="ko-KR" altLang="en-US" sz="1150" b="1">
                        <a:solidFill>
                          <a:srgbClr val="FFFFFF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뒷면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371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뒷조사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22 / 28 / 43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조준 부위에 표식 부여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—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교환마다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 / 6 / 8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957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숨 고르기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평타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22 / 28 / 43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16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이긴 교환마다 「살수의 감」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 (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표식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0)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037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의뢰 대상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A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23 / 29 / 44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대 결투 교환 승리마다 표식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배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(8/12/16) +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바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9062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잔혹한 마무리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23 / 29 / 44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결투 교환 승리 시 「살수의 감」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소비 → 코인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앞면이면 무저항 추가타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앞면이 뜰 때까지 상한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(6÷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코인−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1)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까지 자동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3450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111ACB-76E4-9933-4408-E6240C966E65}"/>
              </a:ext>
            </a:extLst>
          </p:cNvPr>
          <p:cNvSpPr txBox="1"/>
          <p:nvPr/>
        </p:nvSpPr>
        <p:spPr>
          <a:xfrm>
            <a:off x="508000" y="3434080"/>
            <a:ext cx="11176000" cy="299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의뢰 대상과 잔혹한 마무리은 빛이 같아 로드아웃에서 택일이다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실측 승률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71/63/70 vs 69/60/66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거의 동률이라 진짜 선택이 된다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잔혹한 마무리의 교환당 상한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6 ÷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수 −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→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/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 /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수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(1 +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상한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= 6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 세 무기의 총 타격 기회가 같아진다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백우는 넓고 얕게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낙일은 좁고 깊게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결투는 곡선 정가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평타는 정가 −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−1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확정 문법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('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평타는 위력이 낮은 대신 수비 카드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')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지키면서 백우 손실을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3pp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막는 유일한 값이다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원칙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부여량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&gt;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평타 부여량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결투는 지면 상대 효과를 발동시켜주는 양방향 리스크를 지므로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유료 표식 평타는 어떤 비용에서도 성립하지 않는다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두 번째 평타가 재굴림 축을 받았다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유진에게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비용 → 앞면 위력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사다리는 작동하지 않는다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실측 기각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앞면이 이미 적 최대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23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넘어 이기고 있어 위력을 올려도 승률이 안 움직인다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유진의 스킬 차별화는 위력이 아니라 효과로만 가능하다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「숨 고르기」의 앞면 판정은 문서에 따로 명시된 적이 없다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 값은 평타 문법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정가 −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1)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그대로 적용한 것이며 확정 기록은 아니다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800"/>
              </a:spcBef>
            </a:pP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결투는 결투 대 결투에서 앞면이 아니면 절대 못 이긴다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결투 판정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15~26,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뒷면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15).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결투 효과가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25~30%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발동한다 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이중 게이트가 정체성이다</a:t>
            </a:r>
            <a:r>
              <a:rPr lang="en-US" altLang="ko-KR" sz="13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596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27DBC5-F233-637B-502E-9CF51B6BDB1B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7D28BC-569E-F3C4-9037-B093EE6ECBE4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DE6FE-E20E-5AF3-1CBF-FB730A475EE6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 둘 다 빛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 전부 임계 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4BF40A-511C-26CB-A479-0461E8F6A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440960"/>
              </p:ext>
            </p:extLst>
          </p:nvPr>
        </p:nvGraphicFramePr>
        <p:xfrm>
          <a:off x="508000" y="1600200"/>
          <a:ext cx="111760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59830746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09585955"/>
                    </a:ext>
                  </a:extLst>
                </a:gridCol>
                <a:gridCol w="7747000">
                  <a:extLst>
                    <a:ext uri="{9D8B030D-6E8A-4147-A177-3AD203B41FA5}">
                      <a16:colId xmlns:a16="http://schemas.microsoft.com/office/drawing/2014/main" val="265115238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이름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5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효과</a:t>
                      </a:r>
                    </a:p>
                  </a:txBody>
                  <a:tcPr marL="76200" marR="76200" marT="38100" marB="38100">
                    <a:lnB w="12700" cmpd="sng">
                      <a:solidFill>
                        <a:srgbClr val="CBD5E1"/>
                      </a:solidFill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5473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노림수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 코인 앞면 확률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+10%p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7140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도사림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선금 받기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 코인 뒷면 값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875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위세 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밑작업 착수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조준 부위에 표식을 무기 크리값만큼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(12/15/19)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부여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적설이면 두 곳에 각각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 이긴 교환마다 표식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+3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719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위세 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확실한 일처리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조준 부위에 확정 크리 한 방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턴에 처치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부위 파괴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표식 발화가 일어나면 다음 굴림 하나도 확정 크리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연쇄 상한 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86389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위세 형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  <a:endParaRPr lang="ko-KR" altLang="en-US" sz="1100" b="0">
                        <a:solidFill>
                          <a:srgbClr val="1A202C"/>
                        </a:solidFill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유연한 대처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 턴 뒷면이 나온 굴림은 자동으로 한 번 더 굴린다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같은 굴림은 한 번만</a:t>
                      </a:r>
                      <a:r>
                        <a:rPr lang="en-US" altLang="ko-KR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. </a:t>
                      </a:r>
                      <a:r>
                        <a:rPr lang="ko-KR" altLang="en-US" sz="1100" b="0">
                          <a:solidFill>
                            <a:srgbClr val="1A202C"/>
                          </a:solidFill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「살수의 감」을 소모하지 않는다</a:t>
                      </a:r>
                    </a:p>
                  </a:txBody>
                  <a:tcPr marL="76200" marR="76200" marT="38100" marB="38100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546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3BF1D0-67EC-3CC7-D773-03FB097A243A}"/>
              </a:ext>
            </a:extLst>
          </p:cNvPr>
          <p:cNvSpPr txBox="1"/>
          <p:nvPr/>
        </p:nvSpPr>
        <p:spPr>
          <a:xfrm>
            <a:off x="508000" y="3632199"/>
            <a:ext cx="11176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짝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밑작업 착수은 적설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확실한 일처리는 낙일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유연한 대처은 백우에 기운다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위세는 런 시작에 고르는 아키타입이므로 특정 무기로 기우는 게 설계 의도다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     – 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도사림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판정 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+1)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유진에게만 약하다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(+2.2pp).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앞면은 이미 이기고 있어 절반이 낭비되기 때문이다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고유 도사림을 쓸 이유가 구조에서 나온다</a:t>
            </a:r>
            <a:r>
              <a:rPr lang="en-US" altLang="ko-KR" sz="12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색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노림수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저앞면 무기용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선금 받기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고코인 무기용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손익분기는 노림수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+5%p,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선금 받기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「유연한 대처」의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굴림은 한 번만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「확실한 일처리」를 지키는 장치다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코인은 값이 둘뿐이라 이 단서가 없으면 앞면이 뜰 때까지 다시 굴릴 수 있고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확정 크리가 되어 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통째로 삼킨다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올라프에서는 같은 안이 성립한다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주사위는 값이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개라 재굴림해도 최댓값이 확정이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.)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「확실한 일처리」의 트리거에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 발화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들어가는 게 핵심이다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처치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파괴만이면 연쇄를 낙일만 갖게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적설의 봉인은 명시적으로 파괴가 아니므로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50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실측 이득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+6.7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 +7.3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 +7.4pp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세 형이 같은 대역이다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087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5ECD7-DDC3-C4A3-7E16-B62E5E3FFE03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사용법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무기별 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트리</a:t>
            </a:r>
            <a:r>
              <a:rPr lang="en-US" altLang="ko-KR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-KR" altLang="en-US" sz="2300" b="1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3EEC0-3AF4-61CD-728D-F6CDEE6B2D57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AC4EE-012B-8C93-BF56-11339DDBC498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세 무기는 서로 연관되되 각자 독립 트리다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하나만 들고 런 끝까지 가도 성립해야 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69FB9-2A4E-6A78-47CD-1161C66C53E5}"/>
              </a:ext>
            </a:extLst>
          </p:cNvPr>
          <p:cNvSpPr txBox="1"/>
          <p:nvPr/>
        </p:nvSpPr>
        <p:spPr>
          <a:xfrm>
            <a:off x="508000" y="1600200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백우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빠르게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등이지만 부수지 못하고 전체 체력으로 밀어 넘긴다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(8.4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결투가 약한 게 정체성이다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앞면 판정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적 최대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동률이라 위력 여유가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평타로 밀어붙이는 무기다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 맞으며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두 곳 동시 타격으로 표식을 넓게 쌓아 봉인하고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봉인된 부위를 무저항으로 두들겨 전체 체력을 민다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조용한 판이 가장 많다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(40%).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체력이 노드 간 이월되는 자원이라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느리지만 안 맞는다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그 자체로 채용 이유가 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부수며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남은 굴림 삭제로 적 행동을 지우고 크리로 처형한다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가장 길고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(12.1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가장 자주 짓눌린다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순수 데미지로는 못 끝내므로 반드시 부수며 가야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루프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「뒷조사」으로 표식 적립 → 「의뢰 대상」으로 발화를 앞당김 → 발화 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낙일이면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약화 → 크리로 처형 → 그 파괴가 「살수의 감」을 재충전 → 다음 기회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처형 게이트는 셋뿐이다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처형 권한이 있는 무기 ② 조준 부위가 약화 상태 ③ 크리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앞면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별도 확률 굴림은 없고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 위치는 게이트가 아니다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로드아웃은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자유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자연히 짜인다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빛이 턴당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 유료 스킬을 두 개 이상 꽂아도 다 못 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제거 효과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삭제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봉인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자기 위세 충전도 같이 지운다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원래 나를 때렸을 교환을 없애기 때문이다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버그가 아니라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덜 받아냈으니 덜 얻는다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설계된 대가다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충전 트리거로 보정하지 말 것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984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43A83E-A076-5C23-7172-C269596D8D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0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677953-92B3-85B7-B17D-9DA37511722C}"/>
              </a:ext>
            </a:extLst>
          </p:cNvPr>
          <p:cNvSpPr/>
          <p:nvPr/>
        </p:nvSpPr>
        <p:spPr>
          <a:xfrm>
            <a:off x="889000" y="2641600"/>
            <a:ext cx="1219200" cy="762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2CE06-0C84-E34F-7186-9B1AE371F25C}"/>
              </a:ext>
            </a:extLst>
          </p:cNvPr>
          <p:cNvSpPr txBox="1"/>
          <p:nvPr/>
        </p:nvSpPr>
        <p:spPr>
          <a:xfrm>
            <a:off x="889000" y="29972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 </a:t>
            </a:r>
            <a:r>
              <a:rPr lang="en-US" altLang="ko-KR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3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 주의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17B26-76B3-BA9E-AC9C-31F7D8E0E482}"/>
              </a:ext>
            </a:extLst>
          </p:cNvPr>
          <p:cNvSpPr txBox="1"/>
          <p:nvPr/>
        </p:nvSpPr>
        <p:spPr>
          <a:xfrm>
            <a:off x="889000" y="3810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BBBBB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미확정 항목과 우선순위</a:t>
            </a:r>
          </a:p>
        </p:txBody>
      </p:sp>
    </p:spTree>
    <p:extLst>
      <p:ext uri="{BB962C8B-B14F-4D97-AF65-F5344CB8AC3E}">
        <p14:creationId xmlns:p14="http://schemas.microsoft.com/office/powerpoint/2010/main" val="4150577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8C2F60-599F-0BC7-CB61-CC9AD6E8C47A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⚠ 아직 정해지지 않은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989B02-7CFD-3199-9056-4D29F0A96668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68A41-56A6-FE44-B2F0-CD8A65B4ACD7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아래는 구현 중 반드시 막히는 지점이다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임의로 채우지 말고 기획에 물을 것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E547D-DB5A-7FD8-8DAF-6D106F690F87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체력 절대값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확정된 건 플레이어 부위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180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 부위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144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잡몹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60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뿐이다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&gt;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합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이라는 관계만 정해져 있다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엘리트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보스의 고유 파괴 기믹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미설계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그래서 현재 플레이어 부위는 파괴되지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다리를 조준하면 무엇이 되는가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다리는 도사림 전용이라 합이 성립하지 않는다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항상 일방타격이면 다리가 언제나 최적 표적이 되어 부위별 선택이 무의미해진다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공포의 수치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위력 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N).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결투 위력 재검토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파괴형이 곡선 정가에 빛도 더 싸다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「숨 고르기」의 앞면 위력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명시 기록 없음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백우의 디메리트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보류 중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필요해지면 탄약이 후보다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아이템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키워드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절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잔효과 교체 모델이 표식 발화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종과 충돌해 재설계 대기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아직 설계 중이다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친치로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뼈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구간까지는 확정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⚠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밸런스 판단 금지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(1)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시뮬은 성장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증강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아이템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제외 베이스라인이라 절대 승률에 의미가 없다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(2)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간 승률 비교도 금지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유진만 제 실력으로 측정되고 올라프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히후미 엔진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도사림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방어도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 파괴 기믹이 미구현이다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631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308A5-E2B9-8446-D0CD-BDCDBE076DDD}"/>
              </a:ext>
            </a:extLst>
          </p:cNvPr>
          <p:cNvSpPr txBox="1"/>
          <p:nvPr/>
        </p:nvSpPr>
        <p:spPr>
          <a:xfrm>
            <a:off x="508000" y="406400"/>
            <a:ext cx="11176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 b="1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 우선순위 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C9612D-E5DF-0DB7-8FB7-C7672F8DF7CA}"/>
              </a:ext>
            </a:extLst>
          </p:cNvPr>
          <p:cNvSpPr/>
          <p:nvPr/>
        </p:nvSpPr>
        <p:spPr>
          <a:xfrm>
            <a:off x="508000" y="939800"/>
            <a:ext cx="711200" cy="38100"/>
          </a:xfrm>
          <a:prstGeom prst="rect">
            <a:avLst/>
          </a:prstGeom>
          <a:solidFill>
            <a:srgbClr val="8B26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D2074-477F-FD65-A7F9-98B344160DFB}"/>
              </a:ext>
            </a:extLst>
          </p:cNvPr>
          <p:cNvSpPr txBox="1"/>
          <p:nvPr/>
        </p:nvSpPr>
        <p:spPr>
          <a:xfrm>
            <a:off x="508000" y="1168400"/>
            <a:ext cx="1117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normAutofit/>
          </a:bodyPr>
          <a:lstStyle/>
          <a:p>
            <a:r>
              <a:rPr lang="ko-KR" altLang="en-US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아래 순서로 쌓으면 앞 단계가 뒤 단계의 전제를 이미 만족한다</a:t>
            </a:r>
            <a:r>
              <a:rPr lang="en-US" altLang="ko-KR" sz="1300">
                <a:solidFill>
                  <a:srgbClr val="8B2635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8B2635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9B936-F2E5-0A29-6C34-00E15E257D75}"/>
              </a:ext>
            </a:extLst>
          </p:cNvPr>
          <p:cNvSpPr txBox="1"/>
          <p:nvPr/>
        </p:nvSpPr>
        <p:spPr>
          <a:xfrm>
            <a:off x="508000" y="1600199"/>
            <a:ext cx="11176000" cy="482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1.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코어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합 소모전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교환 루프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판정값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 굴림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속도 보정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기세 바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히트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푸시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 /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구간 배율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경제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이게 서면 캐릭터는 데이터에 가깝다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2.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 시스템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죽음의 저항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권한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피격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조준한 슬롯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부위별 약화 디버프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3.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올라프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균등 주사위라 기준선 역할을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출혈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적립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도트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감쇠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광기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4.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유진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코인 수 스위칭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 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「살수의 감」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무기가 전 스킬의 코인 수를 정하므로 스킬 데이터 구조가 무기 참조를 전제해야 한다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5.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 캐릭터 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2·3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설계만 돼 있고 수치 튜닝은 후순위다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콘텐츠 규모 주의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형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× 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캐릭터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=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위세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9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맞춤 결투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18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위력은 생성 문법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곡선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사다리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폭 기준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자동 결정하므로 풀이 커져도 수치 밸런스는 안 흔들린다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pPr marL="228600" indent="-228600">
              <a:lnSpc>
                <a:spcPct val="95000"/>
              </a:lnSpc>
              <a:spcBef>
                <a:spcPts val="900"/>
              </a:spcBef>
            </a:pP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• 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데이터로 빼둘 것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곡선 표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굴림 수 → 위력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배율 사다리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빛 비용 티어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표식 부여량 공식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무기 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종 파라미터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전부 상수 테이블이라 코드에 박지 말 것</a:t>
            </a:r>
            <a:r>
              <a:rPr lang="en-US" altLang="ko-KR" sz="1400">
                <a:solidFill>
                  <a:srgbClr val="1A202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A202C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59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7177</Words>
  <Application>Microsoft Office PowerPoint</Application>
  <PresentationFormat>와이드스크린</PresentationFormat>
  <Paragraphs>537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박준웅(학부생-소프트웨어전공)</dc:creator>
  <cp:lastModifiedBy>박준웅(학부생-소프트웨어전공)</cp:lastModifiedBy>
  <cp:revision>2</cp:revision>
  <dcterms:created xsi:type="dcterms:W3CDTF">2026-08-02T12:25:37Z</dcterms:created>
  <dcterms:modified xsi:type="dcterms:W3CDTF">2026-08-06T16:48:47Z</dcterms:modified>
</cp:coreProperties>
</file>